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267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89520" cy="68580"/>
          </a:xfrm>
          <a:prstGeom prst="rect">
            <a:avLst/>
          </a:prstGeom>
          <a:solidFill>
            <a:srgbClr val="FDB51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589520" y="0"/>
            <a:ext cx="2468880" cy="68580"/>
          </a:xfrm>
          <a:prstGeom prst="rect">
            <a:avLst/>
          </a:prstGeom>
          <a:solidFill>
            <a:srgbClr val="00693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58400" y="0"/>
            <a:ext cx="2133295" cy="68580"/>
          </a:xfrm>
          <a:prstGeom prst="rect">
            <a:avLst/>
          </a:prstGeom>
          <a:solidFill>
            <a:srgbClr val="00AEE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566928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DB5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MODEL-ZOO / HEAVY-TAILED SELF-REGULARIZATION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58368" y="1078992"/>
            <a:ext cx="658368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 weights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 evidence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685800" y="2770632"/>
            <a:ext cx="6903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D9E2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Exploratory audit: weight grouping, base retrieval, and performance controls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94944" y="406908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FDB51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10,946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694944" y="455371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lineage models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94944" y="48920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40" dirty="0">
                <a:solidFill>
                  <a:srgbClr val="C9D6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 2 + ablation</a:t>
            </a:r>
            <a:endParaRPr lang="en-US" sz="840" dirty="0"/>
          </a:p>
        </p:txBody>
      </p:sp>
      <p:sp>
        <p:nvSpPr>
          <p:cNvPr id="11" name="Text 9"/>
          <p:cNvSpPr/>
          <p:nvPr/>
        </p:nvSpPr>
        <p:spPr>
          <a:xfrm>
            <a:off x="3072384" y="4069080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0AEE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17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3072384" y="4553712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weight-derived groups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072384" y="48920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40" dirty="0">
                <a:solidFill>
                  <a:srgbClr val="C9D6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selected without labels</a:t>
            </a:r>
            <a:endParaRPr lang="en-US" sz="840" dirty="0"/>
          </a:p>
        </p:txBody>
      </p:sp>
      <p:sp>
        <p:nvSpPr>
          <p:cNvPr id="14" name="Text 12"/>
          <p:cNvSpPr/>
          <p:nvPr/>
        </p:nvSpPr>
        <p:spPr>
          <a:xfrm>
            <a:off x="5413248" y="406908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7ACBA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3.21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5413248" y="455371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non-alpha modern MAE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413248" y="48920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40" dirty="0">
                <a:solidFill>
                  <a:srgbClr val="C9D6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near-group held-out audit</a:t>
            </a:r>
            <a:endParaRPr lang="en-US" sz="840" dirty="0"/>
          </a:p>
        </p:txBody>
      </p:sp>
      <p:sp>
        <p:nvSpPr>
          <p:cNvPr id="17" name="Shape 15"/>
          <p:cNvSpPr/>
          <p:nvPr/>
        </p:nvSpPr>
        <p:spPr>
          <a:xfrm>
            <a:off x="7948422" y="933145"/>
            <a:ext cx="50292" cy="50292"/>
          </a:xfrm>
          <a:prstGeom prst="ellipse">
            <a:avLst/>
          </a:prstGeom>
          <a:solidFill>
            <a:srgbClr val="00AEE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62095" y="896487"/>
            <a:ext cx="83210" cy="83210"/>
          </a:xfrm>
          <a:prstGeom prst="ellipse">
            <a:avLst/>
          </a:prstGeom>
          <a:solidFill>
            <a:srgbClr val="FDB51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591001" y="901926"/>
            <a:ext cx="50292" cy="50292"/>
          </a:xfrm>
          <a:prstGeom prst="ellipse">
            <a:avLst/>
          </a:prstGeom>
          <a:solidFill>
            <a:srgbClr val="6D8EC4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74705" y="926699"/>
            <a:ext cx="50292" cy="50292"/>
          </a:xfrm>
          <a:prstGeom prst="ellipse">
            <a:avLst/>
          </a:prstGeom>
          <a:solidFill>
            <a:srgbClr val="00AEE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464522" y="885230"/>
            <a:ext cx="83210" cy="83210"/>
          </a:xfrm>
          <a:prstGeom prst="ellipse">
            <a:avLst/>
          </a:prstGeom>
          <a:solidFill>
            <a:srgbClr val="00AEE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807411" y="913487"/>
            <a:ext cx="50292" cy="50292"/>
          </a:xfrm>
          <a:prstGeom prst="ellipse">
            <a:avLst/>
          </a:prstGeom>
          <a:solidFill>
            <a:srgbClr val="FDB51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123254" y="916677"/>
            <a:ext cx="83210" cy="83210"/>
          </a:xfrm>
          <a:prstGeom prst="ellipse">
            <a:avLst/>
          </a:prstGeom>
          <a:solidFill>
            <a:srgbClr val="6D8EC4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458207" y="912410"/>
            <a:ext cx="50292" cy="50292"/>
          </a:xfrm>
          <a:prstGeom prst="ellipse">
            <a:avLst/>
          </a:prstGeom>
          <a:solidFill>
            <a:srgbClr val="4E79B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943466" y="1193498"/>
            <a:ext cx="99670" cy="99670"/>
          </a:xfrm>
          <a:prstGeom prst="ellipse">
            <a:avLst/>
          </a:prstGeom>
          <a:solidFill>
            <a:srgbClr val="4E79B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252039" y="1212532"/>
            <a:ext cx="66751" cy="66751"/>
          </a:xfrm>
          <a:prstGeom prst="ellipse">
            <a:avLst/>
          </a:prstGeom>
          <a:solidFill>
            <a:srgbClr val="00AEE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526819" y="1170501"/>
            <a:ext cx="99670" cy="99670"/>
          </a:xfrm>
          <a:prstGeom prst="ellipse">
            <a:avLst/>
          </a:prstGeom>
          <a:solidFill>
            <a:srgbClr val="00AEE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851716" y="1196006"/>
            <a:ext cx="66751" cy="66751"/>
          </a:xfrm>
          <a:prstGeom prst="ellipse">
            <a:avLst/>
          </a:prstGeom>
          <a:solidFill>
            <a:srgbClr val="FDB51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163153" y="1201007"/>
            <a:ext cx="99670" cy="99670"/>
          </a:xfrm>
          <a:prstGeom prst="ellipse">
            <a:avLst/>
          </a:prstGeom>
          <a:solidFill>
            <a:srgbClr val="6D8EC4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511337" y="1198670"/>
            <a:ext cx="66751" cy="66751"/>
          </a:xfrm>
          <a:prstGeom prst="ellipse">
            <a:avLst/>
          </a:prstGeom>
          <a:solidFill>
            <a:srgbClr val="4E79B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811281" y="1169291"/>
            <a:ext cx="99670" cy="99670"/>
          </a:xfrm>
          <a:prstGeom prst="ellipse">
            <a:avLst/>
          </a:prstGeom>
          <a:solidFill>
            <a:srgbClr val="00AEE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123759" y="1210418"/>
            <a:ext cx="66751" cy="66751"/>
          </a:xfrm>
          <a:prstGeom prst="ellipse">
            <a:avLst/>
          </a:prstGeom>
          <a:solidFill>
            <a:srgbClr val="00AEE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396612" y="1195669"/>
            <a:ext cx="99670" cy="99670"/>
          </a:xfrm>
          <a:prstGeom prst="ellipse">
            <a:avLst/>
          </a:prstGeom>
          <a:solidFill>
            <a:srgbClr val="FDB51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912039" y="1478593"/>
            <a:ext cx="83210" cy="83210"/>
          </a:xfrm>
          <a:prstGeom prst="ellipse">
            <a:avLst/>
          </a:prstGeom>
          <a:solidFill>
            <a:srgbClr val="FDB51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239122" y="1518033"/>
            <a:ext cx="50292" cy="50292"/>
          </a:xfrm>
          <a:prstGeom prst="ellipse">
            <a:avLst/>
          </a:prstGeom>
          <a:solidFill>
            <a:srgbClr val="6D8EC4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551855" y="1484962"/>
            <a:ext cx="83210" cy="83210"/>
          </a:xfrm>
          <a:prstGeom prst="ellipse">
            <a:avLst/>
          </a:prstGeom>
          <a:solidFill>
            <a:srgbClr val="4E79B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899253" y="1485989"/>
            <a:ext cx="50292" cy="50292"/>
          </a:xfrm>
          <a:prstGeom prst="ellipse">
            <a:avLst/>
          </a:prstGeom>
          <a:solidFill>
            <a:srgbClr val="00AEE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197052" y="1493154"/>
            <a:ext cx="83210" cy="83210"/>
          </a:xfrm>
          <a:prstGeom prst="ellipse">
            <a:avLst/>
          </a:prstGeom>
          <a:solidFill>
            <a:srgbClr val="00AEE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507997" y="1514311"/>
            <a:ext cx="50292" cy="50292"/>
          </a:xfrm>
          <a:prstGeom prst="ellipse">
            <a:avLst/>
          </a:prstGeom>
          <a:solidFill>
            <a:srgbClr val="FDB51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0102310" y="1495560"/>
            <a:ext cx="50292" cy="50292"/>
          </a:xfrm>
          <a:prstGeom prst="ellipse">
            <a:avLst/>
          </a:prstGeom>
          <a:solidFill>
            <a:srgbClr val="4E79B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410942" y="1501675"/>
            <a:ext cx="83210" cy="83210"/>
          </a:xfrm>
          <a:prstGeom prst="ellipse">
            <a:avLst/>
          </a:prstGeom>
          <a:solidFill>
            <a:srgbClr val="00AEE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940577" y="1769986"/>
            <a:ext cx="66751" cy="66751"/>
          </a:xfrm>
          <a:prstGeom prst="ellipse">
            <a:avLst/>
          </a:prstGeom>
          <a:solidFill>
            <a:srgbClr val="00AEE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254070" y="1775785"/>
            <a:ext cx="99670" cy="99670"/>
          </a:xfrm>
          <a:prstGeom prst="ellipse">
            <a:avLst/>
          </a:prstGeom>
          <a:solidFill>
            <a:srgbClr val="00AEE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859266" y="1757684"/>
            <a:ext cx="99670" cy="99670"/>
          </a:xfrm>
          <a:prstGeom prst="ellipse">
            <a:avLst/>
          </a:prstGeom>
          <a:solidFill>
            <a:srgbClr val="6D8EC4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9166227" y="1778211"/>
            <a:ext cx="66751" cy="66751"/>
          </a:xfrm>
          <a:prstGeom prst="ellipse">
            <a:avLst/>
          </a:prstGeom>
          <a:solidFill>
            <a:srgbClr val="4E79B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456404" y="1785625"/>
            <a:ext cx="99670" cy="99670"/>
          </a:xfrm>
          <a:prstGeom prst="ellipse">
            <a:avLst/>
          </a:prstGeom>
          <a:solidFill>
            <a:srgbClr val="00AEE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799551" y="1787168"/>
            <a:ext cx="66751" cy="66751"/>
          </a:xfrm>
          <a:prstGeom prst="ellipse">
            <a:avLst/>
          </a:prstGeom>
          <a:solidFill>
            <a:srgbClr val="00AEE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0115312" y="1753614"/>
            <a:ext cx="99670" cy="99670"/>
          </a:xfrm>
          <a:prstGeom prst="ellipse">
            <a:avLst/>
          </a:prstGeom>
          <a:solidFill>
            <a:srgbClr val="FDB51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0449918" y="1792757"/>
            <a:ext cx="66751" cy="66751"/>
          </a:xfrm>
          <a:prstGeom prst="ellipse">
            <a:avLst/>
          </a:prstGeom>
          <a:solidFill>
            <a:srgbClr val="6D8EC4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967958" y="2076360"/>
            <a:ext cx="50292" cy="50292"/>
          </a:xfrm>
          <a:prstGeom prst="ellipse">
            <a:avLst/>
          </a:prstGeom>
          <a:solidFill>
            <a:srgbClr val="6D8EC4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243425" y="2060973"/>
            <a:ext cx="83210" cy="83210"/>
          </a:xfrm>
          <a:prstGeom prst="ellipse">
            <a:avLst/>
          </a:prstGeom>
          <a:solidFill>
            <a:srgbClr val="4E79B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551290" y="2102278"/>
            <a:ext cx="50292" cy="50292"/>
          </a:xfrm>
          <a:prstGeom prst="ellipse">
            <a:avLst/>
          </a:prstGeom>
          <a:solidFill>
            <a:srgbClr val="00AEE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843635" y="2073456"/>
            <a:ext cx="83210" cy="83210"/>
          </a:xfrm>
          <a:prstGeom prst="ellipse">
            <a:avLst/>
          </a:prstGeom>
          <a:solidFill>
            <a:srgbClr val="00AEE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9188220" y="2070687"/>
            <a:ext cx="50292" cy="50292"/>
          </a:xfrm>
          <a:prstGeom prst="ellipse">
            <a:avLst/>
          </a:prstGeom>
          <a:solidFill>
            <a:srgbClr val="FDB51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9503368" y="2075328"/>
            <a:ext cx="83210" cy="83210"/>
          </a:xfrm>
          <a:prstGeom prst="ellipse">
            <a:avLst/>
          </a:prstGeom>
          <a:solidFill>
            <a:srgbClr val="6D8EC4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9835873" y="2101428"/>
            <a:ext cx="50292" cy="50292"/>
          </a:xfrm>
          <a:prstGeom prst="ellipse">
            <a:avLst/>
          </a:prstGeom>
          <a:solidFill>
            <a:srgbClr val="4E79B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0115164" y="2059488"/>
            <a:ext cx="83210" cy="83210"/>
          </a:xfrm>
          <a:prstGeom prst="ellipse">
            <a:avLst/>
          </a:prstGeom>
          <a:solidFill>
            <a:srgbClr val="00AEE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0421003" y="2077885"/>
            <a:ext cx="50292" cy="50292"/>
          </a:xfrm>
          <a:prstGeom prst="ellipse">
            <a:avLst/>
          </a:prstGeom>
          <a:solidFill>
            <a:srgbClr val="00AEE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903623" y="2359706"/>
            <a:ext cx="99670" cy="99670"/>
          </a:xfrm>
          <a:prstGeom prst="ellipse">
            <a:avLst/>
          </a:prstGeom>
          <a:solidFill>
            <a:srgbClr val="00AEE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231076" y="2355065"/>
            <a:ext cx="66751" cy="66751"/>
          </a:xfrm>
          <a:prstGeom prst="ellipse">
            <a:avLst/>
          </a:prstGeom>
          <a:solidFill>
            <a:srgbClr val="FDB51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8544009" y="2357835"/>
            <a:ext cx="99670" cy="99670"/>
          </a:xfrm>
          <a:prstGeom prst="ellipse">
            <a:avLst/>
          </a:prstGeom>
          <a:solidFill>
            <a:srgbClr val="6D8EC4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8891255" y="2386656"/>
            <a:ext cx="66751" cy="66751"/>
          </a:xfrm>
          <a:prstGeom prst="ellipse">
            <a:avLst/>
          </a:prstGeom>
          <a:solidFill>
            <a:srgbClr val="4E79B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9188689" y="2345351"/>
            <a:ext cx="99670" cy="99670"/>
          </a:xfrm>
          <a:prstGeom prst="ellipse">
            <a:avLst/>
          </a:prstGeom>
          <a:solidFill>
            <a:srgbClr val="00AEE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9772838" y="2369612"/>
            <a:ext cx="99670" cy="99670"/>
          </a:xfrm>
          <a:prstGeom prst="ellipse">
            <a:avLst/>
          </a:prstGeom>
          <a:solidFill>
            <a:srgbClr val="FDB51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0094162" y="2375632"/>
            <a:ext cx="66751" cy="66751"/>
          </a:xfrm>
          <a:prstGeom prst="ellipse">
            <a:avLst/>
          </a:prstGeom>
          <a:solidFill>
            <a:srgbClr val="6D8EC4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0403072" y="2338583"/>
            <a:ext cx="99670" cy="99670"/>
          </a:xfrm>
          <a:prstGeom prst="ellipse">
            <a:avLst/>
          </a:prstGeom>
          <a:solidFill>
            <a:srgbClr val="4E79B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932731" y="2671678"/>
            <a:ext cx="83210" cy="83210"/>
          </a:xfrm>
          <a:prstGeom prst="ellipse">
            <a:avLst/>
          </a:prstGeom>
          <a:solidFill>
            <a:srgbClr val="4E79B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8574210" y="2643738"/>
            <a:ext cx="83210" cy="83210"/>
          </a:xfrm>
          <a:prstGeom prst="ellipse">
            <a:avLst/>
          </a:prstGeom>
          <a:solidFill>
            <a:srgbClr val="00AEE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8883573" y="2685918"/>
            <a:ext cx="50292" cy="50292"/>
          </a:xfrm>
          <a:prstGeom prst="ellipse">
            <a:avLst/>
          </a:prstGeom>
          <a:solidFill>
            <a:srgbClr val="FDB51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9157754" y="2661839"/>
            <a:ext cx="83210" cy="83210"/>
          </a:xfrm>
          <a:prstGeom prst="ellipse">
            <a:avLst/>
          </a:prstGeom>
          <a:solidFill>
            <a:srgbClr val="6D8EC4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9481211" y="2656040"/>
            <a:ext cx="50292" cy="50292"/>
          </a:xfrm>
          <a:prstGeom prst="ellipse">
            <a:avLst/>
          </a:prstGeom>
          <a:solidFill>
            <a:srgbClr val="4E79B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9791693" y="2657315"/>
            <a:ext cx="83210" cy="83210"/>
          </a:xfrm>
          <a:prstGeom prst="ellipse">
            <a:avLst/>
          </a:prstGeom>
          <a:solidFill>
            <a:srgbClr val="00AEE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10140284" y="2687974"/>
            <a:ext cx="50292" cy="50292"/>
          </a:xfrm>
          <a:prstGeom prst="ellipse">
            <a:avLst/>
          </a:prstGeom>
          <a:solidFill>
            <a:srgbClr val="00AEE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0441623" y="2647328"/>
            <a:ext cx="83210" cy="83210"/>
          </a:xfrm>
          <a:prstGeom prst="ellipse">
            <a:avLst/>
          </a:prstGeom>
          <a:solidFill>
            <a:srgbClr val="FDB51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7973568" y="3310128"/>
            <a:ext cx="2450592" cy="0"/>
          </a:xfrm>
          <a:prstGeom prst="line">
            <a:avLst/>
          </a:prstGeom>
          <a:noFill/>
          <a:ln w="21590">
            <a:solidFill>
              <a:srgbClr val="FDB515"/>
            </a:solidFill>
            <a:prstDash val="solid"/>
            <a:tailEnd type="triangle"/>
          </a:ln>
        </p:spPr>
      </p:sp>
      <p:sp>
        <p:nvSpPr>
          <p:cNvPr id="76" name="Shape 74"/>
          <p:cNvSpPr/>
          <p:nvPr/>
        </p:nvSpPr>
        <p:spPr>
          <a:xfrm>
            <a:off x="8273034" y="4249674"/>
            <a:ext cx="132588" cy="132588"/>
          </a:xfrm>
          <a:prstGeom prst="ellipse">
            <a:avLst/>
          </a:prstGeom>
          <a:solidFill>
            <a:srgbClr val="00693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8484321" y="4365255"/>
            <a:ext cx="22860" cy="22860"/>
          </a:xfrm>
          <a:prstGeom prst="ellipse">
            <a:avLst/>
          </a:prstGeom>
          <a:solidFill>
            <a:srgbClr val="FDB515">
              <a:alpha val="8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8135111" y="4334174"/>
            <a:ext cx="32918" cy="32918"/>
          </a:xfrm>
          <a:prstGeom prst="ellipse">
            <a:avLst/>
          </a:prstGeom>
          <a:solidFill>
            <a:srgbClr val="00693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8349174" y="4199098"/>
            <a:ext cx="42977" cy="42977"/>
          </a:xfrm>
          <a:prstGeom prst="ellipse">
            <a:avLst/>
          </a:prstGeom>
          <a:solidFill>
            <a:srgbClr val="00693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8441096" y="4429281"/>
            <a:ext cx="22860" cy="22860"/>
          </a:xfrm>
          <a:prstGeom prst="ellipse">
            <a:avLst/>
          </a:prstGeom>
          <a:solidFill>
            <a:srgbClr val="00693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8041206" y="4284193"/>
            <a:ext cx="32918" cy="32918"/>
          </a:xfrm>
          <a:prstGeom prst="ellipse">
            <a:avLst/>
          </a:prstGeom>
          <a:solidFill>
            <a:srgbClr val="00693E">
              <a:alpha val="8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8486304" y="4185053"/>
            <a:ext cx="42977" cy="42977"/>
          </a:xfrm>
          <a:prstGeom prst="ellipse">
            <a:avLst/>
          </a:prstGeom>
          <a:solidFill>
            <a:srgbClr val="00693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8302606" y="4479683"/>
            <a:ext cx="22860" cy="22860"/>
          </a:xfrm>
          <a:prstGeom prst="ellipse">
            <a:avLst/>
          </a:prstGeom>
          <a:solidFill>
            <a:srgbClr val="00693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8019515" y="4201423"/>
            <a:ext cx="32918" cy="32918"/>
          </a:xfrm>
          <a:prstGeom prst="ellipse">
            <a:avLst/>
          </a:prstGeom>
          <a:solidFill>
            <a:srgbClr val="FDB51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8646485" y="4217421"/>
            <a:ext cx="42977" cy="42977"/>
          </a:xfrm>
          <a:prstGeom prst="ellipse">
            <a:avLst/>
          </a:prstGeom>
          <a:solidFill>
            <a:srgbClr val="00693E">
              <a:alpha val="8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8094009" y="4487977"/>
            <a:ext cx="22860" cy="22860"/>
          </a:xfrm>
          <a:prstGeom prst="ellipse">
            <a:avLst/>
          </a:prstGeom>
          <a:solidFill>
            <a:srgbClr val="00693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8108849" y="4110563"/>
            <a:ext cx="32918" cy="32918"/>
          </a:xfrm>
          <a:prstGeom prst="ellipse">
            <a:avLst/>
          </a:prstGeom>
          <a:solidFill>
            <a:srgbClr val="00693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8765749" y="4299986"/>
            <a:ext cx="42977" cy="42977"/>
          </a:xfrm>
          <a:prstGeom prst="ellipse">
            <a:avLst/>
          </a:prstGeom>
          <a:solidFill>
            <a:srgbClr val="00693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7873445" y="4435769"/>
            <a:ext cx="22860" cy="22860"/>
          </a:xfrm>
          <a:prstGeom prst="ellipse">
            <a:avLst/>
          </a:prstGeom>
          <a:solidFill>
            <a:srgbClr val="00693E">
              <a:alpha val="8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8313326" y="4044981"/>
            <a:ext cx="32918" cy="32918"/>
          </a:xfrm>
          <a:prstGeom prst="ellipse">
            <a:avLst/>
          </a:prstGeom>
          <a:solidFill>
            <a:srgbClr val="00693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8781835" y="4417777"/>
            <a:ext cx="42977" cy="42977"/>
          </a:xfrm>
          <a:prstGeom prst="ellipse">
            <a:avLst/>
          </a:prstGeom>
          <a:solidFill>
            <a:srgbClr val="FDB51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7716412" y="4322639"/>
            <a:ext cx="22860" cy="22860"/>
          </a:xfrm>
          <a:prstGeom prst="ellipse">
            <a:avLst/>
          </a:prstGeom>
          <a:solidFill>
            <a:srgbClr val="00693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8595953" y="4036268"/>
            <a:ext cx="32918" cy="32918"/>
          </a:xfrm>
          <a:prstGeom prst="ellipse">
            <a:avLst/>
          </a:prstGeom>
          <a:solidFill>
            <a:srgbClr val="00693E">
              <a:alpha val="8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9516618" y="4039362"/>
            <a:ext cx="132588" cy="132588"/>
          </a:xfrm>
          <a:prstGeom prst="ellipse">
            <a:avLst/>
          </a:prstGeom>
          <a:solidFill>
            <a:srgbClr val="FDB51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9484229" y="4180201"/>
            <a:ext cx="32918" cy="32918"/>
          </a:xfrm>
          <a:prstGeom prst="ellipse">
            <a:avLst/>
          </a:prstGeom>
          <a:solidFill>
            <a:srgbClr val="FDB515">
              <a:alpha val="8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9438343" y="4004486"/>
            <a:ext cx="42977" cy="42977"/>
          </a:xfrm>
          <a:prstGeom prst="ellipse">
            <a:avLst/>
          </a:prstGeom>
          <a:solidFill>
            <a:srgbClr val="00AEE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9776786" y="4082903"/>
            <a:ext cx="22860" cy="22860"/>
          </a:xfrm>
          <a:prstGeom prst="ellipse">
            <a:avLst/>
          </a:prstGeom>
          <a:solidFill>
            <a:srgbClr val="00AEE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9337802" y="4178239"/>
            <a:ext cx="32918" cy="32918"/>
          </a:xfrm>
          <a:prstGeom prst="ellipse">
            <a:avLst/>
          </a:prstGeom>
          <a:solidFill>
            <a:srgbClr val="00AEE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9515098" y="3944598"/>
            <a:ext cx="42977" cy="42977"/>
          </a:xfrm>
          <a:prstGeom prst="ellipse">
            <a:avLst/>
          </a:prstGeom>
          <a:solidFill>
            <a:srgbClr val="00AEEF">
              <a:alpha val="8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9846459" y="4144753"/>
            <a:ext cx="22860" cy="22860"/>
          </a:xfrm>
          <a:prstGeom prst="ellipse">
            <a:avLst/>
          </a:prstGeom>
          <a:solidFill>
            <a:srgbClr val="00AEE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9191974" y="4125932"/>
            <a:ext cx="32918" cy="32918"/>
          </a:xfrm>
          <a:prstGeom prst="ellipse">
            <a:avLst/>
          </a:prstGeom>
          <a:solidFill>
            <a:srgbClr val="00AEE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9682385" y="3910132"/>
            <a:ext cx="42977" cy="42977"/>
          </a:xfrm>
          <a:prstGeom prst="ellipse">
            <a:avLst/>
          </a:prstGeom>
          <a:solidFill>
            <a:srgbClr val="FDB51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9825000" y="4231526"/>
            <a:ext cx="22860" cy="22860"/>
          </a:xfrm>
          <a:prstGeom prst="ellipse">
            <a:avLst/>
          </a:prstGeom>
          <a:solidFill>
            <a:srgbClr val="00AEEF">
              <a:alpha val="8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9114549" y="4027196"/>
            <a:ext cx="32918" cy="32918"/>
          </a:xfrm>
          <a:prstGeom prst="ellipse">
            <a:avLst/>
          </a:prstGeom>
          <a:solidFill>
            <a:srgbClr val="00AEE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9899238" y="3927315"/>
            <a:ext cx="42977" cy="42977"/>
          </a:xfrm>
          <a:prstGeom prst="ellipse">
            <a:avLst/>
          </a:prstGeom>
          <a:solidFill>
            <a:srgbClr val="00AEE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9685571" y="4313079"/>
            <a:ext cx="22860" cy="22860"/>
          </a:xfrm>
          <a:prstGeom prst="ellipse">
            <a:avLst/>
          </a:prstGeom>
          <a:solidFill>
            <a:srgbClr val="00AEE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9161539" y="3905057"/>
            <a:ext cx="32918" cy="32918"/>
          </a:xfrm>
          <a:prstGeom prst="ellipse">
            <a:avLst/>
          </a:prstGeom>
          <a:solidFill>
            <a:srgbClr val="00AEEF">
              <a:alpha val="8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10096109" y="4007918"/>
            <a:ext cx="42977" cy="42977"/>
          </a:xfrm>
          <a:prstGeom prst="ellipse">
            <a:avLst/>
          </a:prstGeom>
          <a:solidFill>
            <a:srgbClr val="00AEE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9441710" y="4354615"/>
            <a:ext cx="22860" cy="22860"/>
          </a:xfrm>
          <a:prstGeom prst="ellipse">
            <a:avLst/>
          </a:prstGeom>
          <a:solidFill>
            <a:srgbClr val="FDB51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9355803" y="3796286"/>
            <a:ext cx="32918" cy="32918"/>
          </a:xfrm>
          <a:prstGeom prst="ellipse">
            <a:avLst/>
          </a:prstGeom>
          <a:solidFill>
            <a:srgbClr val="00AEE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10195225" y="4143058"/>
            <a:ext cx="42977" cy="42977"/>
          </a:xfrm>
          <a:prstGeom prst="ellipse">
            <a:avLst/>
          </a:prstGeom>
          <a:solidFill>
            <a:srgbClr val="00AEEF">
              <a:alpha val="8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9148331" y="4328247"/>
            <a:ext cx="22860" cy="22860"/>
          </a:xfrm>
          <a:prstGeom prst="ellipse">
            <a:avLst/>
          </a:prstGeom>
          <a:solidFill>
            <a:srgbClr val="00AEE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9674310" y="3741017"/>
            <a:ext cx="32918" cy="32918"/>
          </a:xfrm>
          <a:prstGeom prst="ellipse">
            <a:avLst/>
          </a:prstGeom>
          <a:solidFill>
            <a:srgbClr val="00AEE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10549890" y="4469130"/>
            <a:ext cx="132588" cy="132588"/>
          </a:xfrm>
          <a:prstGeom prst="ellipse">
            <a:avLst/>
          </a:prstGeom>
          <a:solidFill>
            <a:srgbClr val="00AEE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10382711" y="4510026"/>
            <a:ext cx="42977" cy="42977"/>
          </a:xfrm>
          <a:prstGeom prst="ellipse">
            <a:avLst/>
          </a:prstGeom>
          <a:solidFill>
            <a:srgbClr val="FDB515">
              <a:alpha val="8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10717801" y="4437829"/>
            <a:ext cx="22860" cy="22860"/>
          </a:xfrm>
          <a:prstGeom prst="ellipse">
            <a:avLst/>
          </a:prstGeom>
          <a:solidFill>
            <a:srgbClr val="00AEE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10698663" y="4609040"/>
            <a:ext cx="32918" cy="32918"/>
          </a:xfrm>
          <a:prstGeom prst="ellipse">
            <a:avLst/>
          </a:prstGeom>
          <a:solidFill>
            <a:srgbClr val="00AEE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10329414" y="4441297"/>
            <a:ext cx="42977" cy="42977"/>
          </a:xfrm>
          <a:prstGeom prst="ellipse">
            <a:avLst/>
          </a:prstGeom>
          <a:solidFill>
            <a:srgbClr val="00AEE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10868450" y="4450038"/>
            <a:ext cx="22860" cy="22860"/>
          </a:xfrm>
          <a:prstGeom prst="ellipse">
            <a:avLst/>
          </a:prstGeom>
          <a:solidFill>
            <a:srgbClr val="00AEEF">
              <a:alpha val="8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10601310" y="4665559"/>
            <a:ext cx="32918" cy="32918"/>
          </a:xfrm>
          <a:prstGeom prst="ellipse">
            <a:avLst/>
          </a:prstGeom>
          <a:solidFill>
            <a:srgbClr val="00AEE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10378755" y="4353072"/>
            <a:ext cx="42977" cy="42977"/>
          </a:xfrm>
          <a:prstGeom prst="ellipse">
            <a:avLst/>
          </a:prstGeom>
          <a:solidFill>
            <a:srgbClr val="00AEE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11002958" y="4514661"/>
            <a:ext cx="22860" cy="22860"/>
          </a:xfrm>
          <a:prstGeom prst="ellipse">
            <a:avLst/>
          </a:prstGeom>
          <a:solidFill>
            <a:srgbClr val="FDB51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10417462" y="4689162"/>
            <a:ext cx="32918" cy="32918"/>
          </a:xfrm>
          <a:prstGeom prst="ellipse">
            <a:avLst/>
          </a:prstGeom>
          <a:solidFill>
            <a:srgbClr val="00AEEF">
              <a:alpha val="8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10549310" y="4278808"/>
            <a:ext cx="42977" cy="42977"/>
          </a:xfrm>
          <a:prstGeom prst="ellipse">
            <a:avLst/>
          </a:prstGeom>
          <a:solidFill>
            <a:srgbClr val="00AEE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11051669" y="4622691"/>
            <a:ext cx="22860" cy="22860"/>
          </a:xfrm>
          <a:prstGeom prst="ellipse">
            <a:avLst/>
          </a:prstGeom>
          <a:solidFill>
            <a:srgbClr val="00AEE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10198196" y="4655395"/>
            <a:ext cx="32918" cy="32918"/>
          </a:xfrm>
          <a:prstGeom prst="ellipse">
            <a:avLst/>
          </a:prstGeom>
          <a:solidFill>
            <a:srgbClr val="00AEE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10815894" y="4253871"/>
            <a:ext cx="42977" cy="42977"/>
          </a:xfrm>
          <a:prstGeom prst="ellipse">
            <a:avLst/>
          </a:prstGeom>
          <a:solidFill>
            <a:srgbClr val="00AEEF">
              <a:alpha val="8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10963369" y="4745977"/>
            <a:ext cx="22860" cy="22860"/>
          </a:xfrm>
          <a:prstGeom prst="ellipse">
            <a:avLst/>
          </a:prstGeom>
          <a:solidFill>
            <a:srgbClr val="00AEE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10019912" y="4557047"/>
            <a:ext cx="32918" cy="32918"/>
          </a:xfrm>
          <a:prstGeom prst="ellipse">
            <a:avLst/>
          </a:prstGeom>
          <a:solidFill>
            <a:srgbClr val="FDB51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11112234" y="4303339"/>
            <a:ext cx="42977" cy="42977"/>
          </a:xfrm>
          <a:prstGeom prst="ellipse">
            <a:avLst/>
          </a:prstGeom>
          <a:solidFill>
            <a:srgbClr val="00AEE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10725947" y="4844429"/>
            <a:ext cx="22860" cy="22860"/>
          </a:xfrm>
          <a:prstGeom prst="ellipse">
            <a:avLst/>
          </a:prstGeom>
          <a:solidFill>
            <a:srgbClr val="00AEEF">
              <a:alpha val="8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9960993" y="4409126"/>
            <a:ext cx="32918" cy="32918"/>
          </a:xfrm>
          <a:prstGeom prst="ellipse">
            <a:avLst/>
          </a:prstGeom>
          <a:solidFill>
            <a:srgbClr val="00AEE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685800" y="6336792"/>
            <a:ext cx="6766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B9C5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Exploratory reassessment: reassessment_0063666fd5733b453c38</a:t>
            </a:r>
            <a:endParaRPr lang="en-US" sz="7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715000" cy="50292"/>
          </a:xfrm>
          <a:prstGeom prst="rect">
            <a:avLst/>
          </a:prstGeom>
          <a:solidFill>
            <a:srgbClr val="00267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715000" y="0"/>
            <a:ext cx="3337560" cy="50292"/>
          </a:xfrm>
          <a:prstGeom prst="rect">
            <a:avLst/>
          </a:prstGeom>
          <a:solidFill>
            <a:srgbClr val="00693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052560" y="0"/>
            <a:ext cx="3139135" cy="50292"/>
          </a:xfrm>
          <a:prstGeom prst="rect">
            <a:avLst/>
          </a:prstGeom>
          <a:solidFill>
            <a:srgbClr val="FDB51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20116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026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STUDY BOUNDARY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30352" y="448056"/>
            <a:ext cx="11109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Keep predictor inputs separate from evaluation labels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530352" y="969264"/>
            <a:ext cx="11109960" cy="0"/>
          </a:xfrm>
          <a:prstGeom prst="line">
            <a:avLst/>
          </a:prstGeom>
          <a:noFill/>
          <a:ln w="10160">
            <a:solidFill>
              <a:srgbClr val="D9E2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352" y="6556248"/>
            <a:ext cx="11109960" cy="0"/>
          </a:xfrm>
          <a:prstGeom prst="line">
            <a:avLst/>
          </a:prstGeom>
          <a:noFill/>
          <a:ln w="8890">
            <a:solidFill>
              <a:srgbClr val="D9E2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6620256"/>
            <a:ext cx="99669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Sources: reassessment_0063666fd5733b453c38/protocol.json; parent prediction freezes</a:t>
            </a:r>
            <a:endParaRPr lang="en-US" sz="660" dirty="0"/>
          </a:p>
        </p:txBody>
      </p:sp>
      <p:sp>
        <p:nvSpPr>
          <p:cNvPr id="10" name="Text 8"/>
          <p:cNvSpPr/>
          <p:nvPr/>
        </p:nvSpPr>
        <p:spPr>
          <a:xfrm>
            <a:off x="11045952" y="6601968"/>
            <a:ext cx="5852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026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66928" y="1243584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3B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Unlabeled discovery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66928" y="1783080"/>
            <a:ext cx="3108960" cy="822960"/>
          </a:xfrm>
          <a:prstGeom prst="roundRect">
            <a:avLst>
              <a:gd name="adj" fmla="val 5556"/>
            </a:avLst>
          </a:prstGeom>
          <a:solidFill>
            <a:srgbClr val="EAF2FF"/>
          </a:solidFill>
          <a:ln w="10160">
            <a:solidFill>
              <a:srgbClr val="003B95"/>
            </a:solidFill>
          </a:ln>
        </p:spPr>
        <p:txBody>
          <a:bodyPr wrap="square" lIns="1778" tIns="1778" rIns="1778" bIns="177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complete core + calibrated partial roles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554480" y="2843784"/>
            <a:ext cx="1133856" cy="0"/>
          </a:xfrm>
          <a:prstGeom prst="line">
            <a:avLst/>
          </a:prstGeom>
          <a:noFill/>
          <a:ln w="19050">
            <a:solidFill>
              <a:srgbClr val="003B95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566928" y="3136392"/>
            <a:ext cx="310896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0160">
            <a:solidFill>
              <a:srgbClr val="003B95"/>
            </a:solidFill>
          </a:ln>
        </p:spPr>
        <p:txBody>
          <a:bodyPr wrap="square" lIns="1778" tIns="1778" rIns="1778" bIns="177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FROZEN OUTPUT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clusters + representative models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096512" y="1243584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69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Known base candidates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096512" y="1783080"/>
            <a:ext cx="3108960" cy="822960"/>
          </a:xfrm>
          <a:prstGeom prst="roundRect">
            <a:avLst>
              <a:gd name="adj" fmla="val 5556"/>
            </a:avLst>
          </a:prstGeom>
          <a:solidFill>
            <a:srgbClr val="E4F3EA"/>
          </a:solidFill>
          <a:ln w="10160">
            <a:solidFill>
              <a:srgbClr val="00693E"/>
            </a:solidFill>
          </a:ln>
        </p:spPr>
        <p:txBody>
          <a:bodyPr wrap="square" lIns="1778" tIns="1778" rIns="1778" bIns="177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profiles + fixed candidate list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84064" y="2843784"/>
            <a:ext cx="1133856" cy="0"/>
          </a:xfrm>
          <a:prstGeom prst="line">
            <a:avLst/>
          </a:prstGeom>
          <a:noFill/>
          <a:ln w="19050">
            <a:solidFill>
              <a:srgbClr val="00693E"/>
            </a:solidFill>
            <a:prstDash val="solid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4096512" y="3136392"/>
            <a:ext cx="310896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0160">
            <a:solidFill>
              <a:srgbClr val="00693E"/>
            </a:solidFill>
          </a:ln>
        </p:spPr>
        <p:txBody>
          <a:bodyPr wrap="square" lIns="1778" tIns="1778" rIns="1778" bIns="177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FROZEN OUTPUT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ranked candidate bases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626096" y="1243584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9A6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Performance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626096" y="1783080"/>
            <a:ext cx="3108960" cy="822960"/>
          </a:xfrm>
          <a:prstGeom prst="roundRect">
            <a:avLst>
              <a:gd name="adj" fmla="val 5556"/>
            </a:avLst>
          </a:prstGeom>
          <a:solidFill>
            <a:srgbClr val="FFF4C7"/>
          </a:solidFill>
          <a:ln w="10160">
            <a:solidFill>
              <a:srgbClr val="9A6A00"/>
            </a:solidFill>
          </a:ln>
        </p:spPr>
        <p:txBody>
          <a:bodyPr wrap="square" lIns="1778" tIns="1778" rIns="1778" bIns="177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matrix summaries + training scores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613648" y="2843784"/>
            <a:ext cx="1133856" cy="0"/>
          </a:xfrm>
          <a:prstGeom prst="line">
            <a:avLst/>
          </a:prstGeom>
          <a:noFill/>
          <a:ln w="19050">
            <a:solidFill>
              <a:srgbClr val="9A6A00"/>
            </a:solidFill>
            <a:prstDash val="solid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7626096" y="3136392"/>
            <a:ext cx="310896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0160">
            <a:solidFill>
              <a:srgbClr val="9A6A00"/>
            </a:solidFill>
          </a:ln>
        </p:spPr>
        <p:txBody>
          <a:bodyPr wrap="square" lIns="1778" tIns="1778" rIns="1778" bIns="177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FROZEN OUTPUT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held-out score estimates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66928" y="4690872"/>
            <a:ext cx="10716768" cy="658368"/>
          </a:xfrm>
          <a:prstGeom prst="roundRect">
            <a:avLst>
              <a:gd name="adj" fmla="val 6944"/>
            </a:avLst>
          </a:prstGeom>
          <a:solidFill>
            <a:srgbClr val="FEE4E2"/>
          </a:solidFill>
          <a:ln w="10160">
            <a:solidFill>
              <a:srgbClr val="B42318"/>
            </a:solidFill>
          </a:ln>
        </p:spPr>
        <p:txBody>
          <a:bodyPr wrap="square" lIns="1778" tIns="1778" rIns="1778" bIns="1778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42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EVALUATION ONLY  |  declared source roots and family labels score frozen lineage predictions; held-out benchmark scores score predictions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03504" y="5623560"/>
            <a:ext cx="10652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3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Collection metadata shaped selection; collection IDs define one holdout. IDs join records and break ties, not predictor features. This is exploratory reuse, not untouched confirmation.</a:t>
            </a:r>
            <a:endParaRPr lang="en-US" sz="103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715000" cy="50292"/>
          </a:xfrm>
          <a:prstGeom prst="rect">
            <a:avLst/>
          </a:prstGeom>
          <a:solidFill>
            <a:srgbClr val="00267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715000" y="0"/>
            <a:ext cx="3337560" cy="50292"/>
          </a:xfrm>
          <a:prstGeom prst="rect">
            <a:avLst/>
          </a:prstGeom>
          <a:solidFill>
            <a:srgbClr val="00693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052560" y="0"/>
            <a:ext cx="3139135" cy="50292"/>
          </a:xfrm>
          <a:prstGeom prst="rect">
            <a:avLst/>
          </a:prstGeom>
          <a:solidFill>
            <a:srgbClr val="FDB51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20116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026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STUDY MAP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30352" y="448056"/>
            <a:ext cx="11109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Four phases, each ending in a checked output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530352" y="969264"/>
            <a:ext cx="11109960" cy="0"/>
          </a:xfrm>
          <a:prstGeom prst="line">
            <a:avLst/>
          </a:prstGeom>
          <a:noFill/>
          <a:ln w="10160">
            <a:solidFill>
              <a:srgbClr val="D9E2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352" y="6556248"/>
            <a:ext cx="11109960" cy="0"/>
          </a:xfrm>
          <a:prstGeom prst="line">
            <a:avLst/>
          </a:prstGeom>
          <a:noFill/>
          <a:ln w="8890">
            <a:solidFill>
              <a:srgbClr val="D9E2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6620256"/>
            <a:ext cx="99669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Sources: collection code, parent weight-only run, and exploratory reassessment protocol.</a:t>
            </a:r>
            <a:endParaRPr lang="en-US" sz="660" dirty="0"/>
          </a:p>
        </p:txBody>
      </p:sp>
      <p:sp>
        <p:nvSpPr>
          <p:cNvPr id="10" name="Text 8"/>
          <p:cNvSpPr/>
          <p:nvPr/>
        </p:nvSpPr>
        <p:spPr>
          <a:xfrm>
            <a:off x="11045952" y="6601968"/>
            <a:ext cx="5852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026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66928" y="1261872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003B95"/>
          </a:solidFill>
          <a:ln w="10160">
            <a:solidFill>
              <a:srgbClr val="003B9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97280" y="126187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B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Assemble model lists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66928" y="1947672"/>
            <a:ext cx="2487168" cy="1051560"/>
          </a:xfrm>
          <a:prstGeom prst="roundRect">
            <a:avLst>
              <a:gd name="adj" fmla="val 4348"/>
            </a:avLst>
          </a:prstGeom>
          <a:solidFill>
            <a:srgbClr val="EAF2FF"/>
          </a:solidFill>
          <a:ln w="10160">
            <a:solidFill>
              <a:srgbClr val="003B95"/>
            </a:solidFill>
          </a:ln>
        </p:spPr>
        <p:txBody>
          <a:bodyPr wrap="square" lIns="1778" tIns="1778" rIns="1778" bIns="1778" rtlCol="0" anchor="ctr"/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 2 and ablation IDs</a:t>
            </a:r>
            <a:endParaRPr lang="en-US" sz="1070" dirty="0"/>
          </a:p>
          <a:p>
            <a:pPr algn="ctr" indent="0" marL="0">
              <a:buNone/>
            </a:pPr>
            <a:r>
              <a:rPr lang="en-US" sz="107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canonicalize and remove duplicates</a:t>
            </a:r>
            <a:endParaRPr lang="en-US" sz="1070" dirty="0"/>
          </a:p>
        </p:txBody>
      </p:sp>
      <p:sp>
        <p:nvSpPr>
          <p:cNvPr id="14" name="Shape 12"/>
          <p:cNvSpPr/>
          <p:nvPr/>
        </p:nvSpPr>
        <p:spPr>
          <a:xfrm>
            <a:off x="1225296" y="3282696"/>
            <a:ext cx="1143000" cy="0"/>
          </a:xfrm>
          <a:prstGeom prst="line">
            <a:avLst/>
          </a:prstGeom>
          <a:noFill/>
          <a:ln w="19050">
            <a:solidFill>
              <a:srgbClr val="003B95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566928" y="3566160"/>
            <a:ext cx="2487168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0160">
            <a:solidFill>
              <a:srgbClr val="003B95"/>
            </a:solidFill>
          </a:ln>
        </p:spPr>
        <p:txBody>
          <a:bodyPr wrap="square" lIns="1778" tIns="1778" rIns="1778" bIns="1778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19,713 selected records</a:t>
            </a:r>
            <a:endParaRPr lang="en-US" sz="1040" dirty="0"/>
          </a:p>
        </p:txBody>
      </p:sp>
      <p:sp>
        <p:nvSpPr>
          <p:cNvPr id="16" name="Shape 14"/>
          <p:cNvSpPr/>
          <p:nvPr/>
        </p:nvSpPr>
        <p:spPr>
          <a:xfrm>
            <a:off x="3118104" y="2459736"/>
            <a:ext cx="228600" cy="0"/>
          </a:xfrm>
          <a:prstGeom prst="line">
            <a:avLst/>
          </a:prstGeom>
          <a:noFill/>
          <a:ln w="19050">
            <a:solidFill>
              <a:srgbClr val="667085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3410712" y="1261872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002676"/>
          </a:solidFill>
          <a:ln w="10160">
            <a:solidFill>
              <a:srgbClr val="00267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941064" y="126187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26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Analyze weights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410712" y="1947672"/>
            <a:ext cx="2487168" cy="1051560"/>
          </a:xfrm>
          <a:prstGeom prst="roundRect">
            <a:avLst>
              <a:gd name="adj" fmla="val 4348"/>
            </a:avLst>
          </a:prstGeom>
          <a:solidFill>
            <a:srgbClr val="F7F9FC"/>
          </a:solidFill>
          <a:ln w="10160">
            <a:solidFill>
              <a:srgbClr val="002676"/>
            </a:solidFill>
          </a:ln>
        </p:spPr>
        <p:txBody>
          <a:bodyPr wrap="square" lIns="1778" tIns="1778" rIns="1778" bIns="1778" rtlCol="0" anchor="ctr"/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 checkpoint matrices</a:t>
            </a:r>
            <a:endParaRPr lang="en-US" sz="1070" dirty="0"/>
          </a:p>
          <a:p>
            <a:pPr algn="ctr" indent="0" marL="0">
              <a:buNone/>
            </a:pPr>
            <a:r>
              <a:rPr lang="en-US" sz="107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compute alpha by layer and role</a:t>
            </a:r>
            <a:endParaRPr lang="en-US" sz="1070" dirty="0"/>
          </a:p>
        </p:txBody>
      </p:sp>
      <p:sp>
        <p:nvSpPr>
          <p:cNvPr id="20" name="Shape 18"/>
          <p:cNvSpPr/>
          <p:nvPr/>
        </p:nvSpPr>
        <p:spPr>
          <a:xfrm>
            <a:off x="4069080" y="3282696"/>
            <a:ext cx="1143000" cy="0"/>
          </a:xfrm>
          <a:prstGeom prst="line">
            <a:avLst/>
          </a:prstGeom>
          <a:noFill/>
          <a:ln w="19050">
            <a:solidFill>
              <a:srgbClr val="002676"/>
            </a:solidFill>
            <a:prstDash val="solid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3410712" y="3566160"/>
            <a:ext cx="2487168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0160">
            <a:solidFill>
              <a:srgbClr val="002676"/>
            </a:solidFill>
          </a:ln>
        </p:spPr>
        <p:txBody>
          <a:bodyPr wrap="square" lIns="1778" tIns="1778" rIns="1778" bIns="1778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10,946 lineage / 11,801 performance</a:t>
            </a:r>
            <a:endParaRPr lang="en-US" sz="1040" dirty="0"/>
          </a:p>
        </p:txBody>
      </p:sp>
      <p:sp>
        <p:nvSpPr>
          <p:cNvPr id="22" name="Shape 20"/>
          <p:cNvSpPr/>
          <p:nvPr/>
        </p:nvSpPr>
        <p:spPr>
          <a:xfrm>
            <a:off x="5961888" y="2459736"/>
            <a:ext cx="228600" cy="0"/>
          </a:xfrm>
          <a:prstGeom prst="line">
            <a:avLst/>
          </a:prstGeom>
          <a:noFill/>
          <a:ln w="19050">
            <a:solidFill>
              <a:srgbClr val="667085"/>
            </a:solidFill>
            <a:prstDash val="solid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6254496" y="1261872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00693E"/>
          </a:solidFill>
          <a:ln w="10160">
            <a:solidFill>
              <a:srgbClr val="00693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784848" y="126187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9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 predictions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254496" y="1947672"/>
            <a:ext cx="2487168" cy="1051560"/>
          </a:xfrm>
          <a:prstGeom prst="roundRect">
            <a:avLst>
              <a:gd name="adj" fmla="val 4348"/>
            </a:avLst>
          </a:prstGeom>
          <a:solidFill>
            <a:srgbClr val="E4F3EA"/>
          </a:solidFill>
          <a:ln w="10160">
            <a:solidFill>
              <a:srgbClr val="00693E"/>
            </a:solidFill>
          </a:ln>
        </p:spPr>
        <p:txBody>
          <a:bodyPr wrap="square" lIns="1778" tIns="1778" rIns="1778" bIns="1778" rtlCol="0" anchor="ctr"/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 groups · rank known bases</a:t>
            </a:r>
            <a:endParaRPr lang="en-US" sz="1070" dirty="0"/>
          </a:p>
          <a:p>
            <a:pPr algn="ctr" indent="0" marL="0">
              <a:buNone/>
            </a:pPr>
            <a:r>
              <a:rPr lang="en-US" sz="107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estimate benchmark scores</a:t>
            </a:r>
            <a:endParaRPr lang="en-US" sz="1070" dirty="0"/>
          </a:p>
        </p:txBody>
      </p:sp>
      <p:sp>
        <p:nvSpPr>
          <p:cNvPr id="26" name="Shape 24"/>
          <p:cNvSpPr/>
          <p:nvPr/>
        </p:nvSpPr>
        <p:spPr>
          <a:xfrm>
            <a:off x="6912864" y="3282696"/>
            <a:ext cx="1143000" cy="0"/>
          </a:xfrm>
          <a:prstGeom prst="line">
            <a:avLst/>
          </a:prstGeom>
          <a:noFill/>
          <a:ln w="19050">
            <a:solidFill>
              <a:srgbClr val="00693E"/>
            </a:solidFill>
            <a:prstDash val="solid"/>
            <a:tailEnd type="triangle"/>
          </a:ln>
        </p:spPr>
      </p:sp>
      <p:sp>
        <p:nvSpPr>
          <p:cNvPr id="27" name="Text 25"/>
          <p:cNvSpPr/>
          <p:nvPr/>
        </p:nvSpPr>
        <p:spPr>
          <a:xfrm>
            <a:off x="6254496" y="3566160"/>
            <a:ext cx="2487168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0160">
            <a:solidFill>
              <a:srgbClr val="00693E"/>
            </a:solidFill>
          </a:ln>
        </p:spPr>
        <p:txBody>
          <a:bodyPr wrap="square" lIns="1778" tIns="1778" rIns="1778" bIns="1778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predictions saved before labels</a:t>
            </a:r>
            <a:endParaRPr lang="en-US" sz="1040" dirty="0"/>
          </a:p>
        </p:txBody>
      </p:sp>
      <p:sp>
        <p:nvSpPr>
          <p:cNvPr id="28" name="Shape 26"/>
          <p:cNvSpPr/>
          <p:nvPr/>
        </p:nvSpPr>
        <p:spPr>
          <a:xfrm>
            <a:off x="8805672" y="2459736"/>
            <a:ext cx="228600" cy="0"/>
          </a:xfrm>
          <a:prstGeom prst="line">
            <a:avLst/>
          </a:prstGeom>
          <a:noFill/>
          <a:ln w="19050">
            <a:solidFill>
              <a:srgbClr val="667085"/>
            </a:solidFill>
            <a:prstDash val="solid"/>
            <a:tailEnd type="triangle"/>
          </a:ln>
        </p:spPr>
      </p:sp>
      <p:sp>
        <p:nvSpPr>
          <p:cNvPr id="29" name="Text 27"/>
          <p:cNvSpPr/>
          <p:nvPr/>
        </p:nvSpPr>
        <p:spPr>
          <a:xfrm>
            <a:off x="9098280" y="1261872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9A6A00"/>
          </a:solidFill>
          <a:ln w="10160">
            <a:solidFill>
              <a:srgbClr val="9A6A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628632" y="126187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A6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9098280" y="1947672"/>
            <a:ext cx="2487168" cy="1051560"/>
          </a:xfrm>
          <a:prstGeom prst="roundRect">
            <a:avLst>
              <a:gd name="adj" fmla="val 4348"/>
            </a:avLst>
          </a:prstGeom>
          <a:solidFill>
            <a:srgbClr val="FFF4C7"/>
          </a:solidFill>
          <a:ln w="10160">
            <a:solidFill>
              <a:srgbClr val="9A6A00"/>
            </a:solidFill>
          </a:ln>
        </p:spPr>
        <p:txBody>
          <a:bodyPr wrap="square" lIns="1778" tIns="1778" rIns="1778" bIns="1778" rtlCol="0" anchor="ctr"/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score against declared source links</a:t>
            </a:r>
            <a:endParaRPr lang="en-US" sz="1070" dirty="0"/>
          </a:p>
          <a:p>
            <a:pPr algn="ctr" indent="0" marL="0">
              <a:buNone/>
            </a:pPr>
            <a:r>
              <a:rPr lang="en-US" sz="107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 held-out benchmark error</a:t>
            </a:r>
            <a:endParaRPr lang="en-US" sz="1070" dirty="0"/>
          </a:p>
        </p:txBody>
      </p:sp>
      <p:sp>
        <p:nvSpPr>
          <p:cNvPr id="32" name="Shape 30"/>
          <p:cNvSpPr/>
          <p:nvPr/>
        </p:nvSpPr>
        <p:spPr>
          <a:xfrm>
            <a:off x="9756648" y="3282696"/>
            <a:ext cx="1143000" cy="0"/>
          </a:xfrm>
          <a:prstGeom prst="line">
            <a:avLst/>
          </a:prstGeom>
          <a:noFill/>
          <a:ln w="19050">
            <a:solidFill>
              <a:srgbClr val="9A6A00"/>
            </a:solidFill>
            <a:prstDash val="solid"/>
            <a:tailEnd type="triangle"/>
          </a:ln>
        </p:spPr>
      </p:sp>
      <p:sp>
        <p:nvSpPr>
          <p:cNvPr id="33" name="Text 31"/>
          <p:cNvSpPr/>
          <p:nvPr/>
        </p:nvSpPr>
        <p:spPr>
          <a:xfrm>
            <a:off x="9098280" y="3566160"/>
            <a:ext cx="2487168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0160">
            <a:solidFill>
              <a:srgbClr val="9A6A00"/>
            </a:solidFill>
          </a:ln>
        </p:spPr>
        <p:txBody>
          <a:bodyPr wrap="square" lIns="1778" tIns="1778" rIns="1778" bIns="1778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reported results and limits</a:t>
            </a:r>
            <a:endParaRPr lang="en-US" sz="1040" dirty="0"/>
          </a:p>
        </p:txBody>
      </p:sp>
      <p:sp>
        <p:nvSpPr>
          <p:cNvPr id="34" name="Text 32"/>
          <p:cNvSpPr/>
          <p:nvPr/>
        </p:nvSpPr>
        <p:spPr>
          <a:xfrm>
            <a:off x="658368" y="5074920"/>
            <a:ext cx="10881360" cy="658368"/>
          </a:xfrm>
          <a:prstGeom prst="roundRect">
            <a:avLst>
              <a:gd name="adj" fmla="val 6944"/>
            </a:avLst>
          </a:prstGeom>
          <a:solidFill>
            <a:srgbClr val="002676"/>
          </a:solidFill>
          <a:ln w="10160">
            <a:solidFill>
              <a:srgbClr val="002676"/>
            </a:solidFill>
          </a:ln>
        </p:spPr>
        <p:txBody>
          <a:bodyPr wrap="square" lIns="1778" tIns="1778" rIns="1778" bIns="1778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Predictor features come from saved weights; score fitting uses training outcomes. Collection metadata shaped curation and one holdout, so the full process is not metadata-free.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715000" cy="50292"/>
          </a:xfrm>
          <a:prstGeom prst="rect">
            <a:avLst/>
          </a:prstGeom>
          <a:solidFill>
            <a:srgbClr val="00267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715000" y="0"/>
            <a:ext cx="3337560" cy="50292"/>
          </a:xfrm>
          <a:prstGeom prst="rect">
            <a:avLst/>
          </a:prstGeom>
          <a:solidFill>
            <a:srgbClr val="00693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052560" y="0"/>
            <a:ext cx="3139135" cy="50292"/>
          </a:xfrm>
          <a:prstGeom prst="rect">
            <a:avLst/>
          </a:prstGeom>
          <a:solidFill>
            <a:srgbClr val="FDB51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20116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03B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DATASET CURATION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30352" y="448056"/>
            <a:ext cx="11109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Two collections were built for different jobs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530352" y="969264"/>
            <a:ext cx="11109960" cy="0"/>
          </a:xfrm>
          <a:prstGeom prst="line">
            <a:avLst/>
          </a:prstGeom>
          <a:noFill/>
          <a:ln w="10160">
            <a:solidFill>
              <a:srgbClr val="D9E2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352" y="6556248"/>
            <a:ext cx="11109960" cy="0"/>
          </a:xfrm>
          <a:prstGeom prst="line">
            <a:avLst/>
          </a:prstGeom>
          <a:noFill/>
          <a:ln w="8890">
            <a:solidFill>
              <a:srgbClr val="D9E2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6620256"/>
            <a:ext cx="99669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Sources: fetch_data/build_phase2_zoo.py, fetch_data/build_ablation_dataset.py, and ablation_source_manifest.json</a:t>
            </a:r>
            <a:endParaRPr lang="en-US" sz="660" dirty="0"/>
          </a:p>
        </p:txBody>
      </p:sp>
      <p:sp>
        <p:nvSpPr>
          <p:cNvPr id="10" name="Text 8"/>
          <p:cNvSpPr/>
          <p:nvPr/>
        </p:nvSpPr>
        <p:spPr>
          <a:xfrm>
            <a:off x="11045952" y="6601968"/>
            <a:ext cx="5852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03B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00" dirty="0"/>
          </a:p>
        </p:txBody>
      </p:sp>
      <p:pic>
        <p:nvPicPr>
          <p:cNvPr id="11" name="Image 0" descr="/scratch/kinshuk/Model-Research/deliverables/htsr_model_zoo_deck/assets/corpus_sourc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1264330"/>
            <a:ext cx="6629400" cy="255540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269480" y="1197864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03B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 2 · BROAD MODEL ZOO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7269480" y="1572768"/>
            <a:ext cx="4224528" cy="512064"/>
          </a:xfrm>
          <a:prstGeom prst="roundRect">
            <a:avLst>
              <a:gd name="adj" fmla="val 8929"/>
            </a:avLst>
          </a:prstGeom>
          <a:solidFill>
            <a:srgbClr val="EAF2FF"/>
          </a:solidFill>
          <a:ln w="10160">
            <a:solidFill>
              <a:srgbClr val="003B95"/>
            </a:solidFill>
          </a:ln>
        </p:spPr>
        <p:txBody>
          <a:bodyPr wrap="square" lIns="1270" tIns="1270" rIns="1270" bIns="1270" rtlCol="0" anchor="ctr"/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 Combine the Model Atlas graph, sampled records, leaderboard rows, and targeted Hub searches.</a:t>
            </a:r>
            <a:endParaRPr lang="en-US" sz="920" dirty="0"/>
          </a:p>
        </p:txBody>
      </p:sp>
      <p:sp>
        <p:nvSpPr>
          <p:cNvPr id="14" name="Text 11"/>
          <p:cNvSpPr/>
          <p:nvPr/>
        </p:nvSpPr>
        <p:spPr>
          <a:xfrm>
            <a:off x="7269480" y="2240280"/>
            <a:ext cx="4224528" cy="512064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0160">
            <a:solidFill>
              <a:srgbClr val="003B95"/>
            </a:solidFill>
          </a:ln>
        </p:spPr>
        <p:txBody>
          <a:bodyPr wrap="square" lIns="1270" tIns="1270" rIns="1270" bIns="1270" rtlCol="0" anchor="ctr"/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 Normalize repository IDs and declared revision fields; the analyzed checkpoint revision is not verified.</a:t>
            </a:r>
            <a:endParaRPr lang="en-US" sz="920" dirty="0"/>
          </a:p>
        </p:txBody>
      </p:sp>
      <p:sp>
        <p:nvSpPr>
          <p:cNvPr id="15" name="Text 12"/>
          <p:cNvSpPr/>
          <p:nvPr/>
        </p:nvSpPr>
        <p:spPr>
          <a:xfrm>
            <a:off x="7269480" y="2907792"/>
            <a:ext cx="4224528" cy="512064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0160">
            <a:solidFill>
              <a:srgbClr val="003B95"/>
            </a:solidFill>
          </a:ln>
        </p:spPr>
        <p:txBody>
          <a:bodyPr wrap="square" lIns="1270" tIns="1270" rIns="1270" bIns="1270" rtlCol="0" anchor="ctr"/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 Fill model-type quotas while balancing score and lineage availability; favor rows with existing weight results.</a:t>
            </a:r>
            <a:endParaRPr lang="en-US" sz="920" dirty="0"/>
          </a:p>
        </p:txBody>
      </p:sp>
      <p:sp>
        <p:nvSpPr>
          <p:cNvPr id="16" name="Text 13"/>
          <p:cNvSpPr/>
          <p:nvPr/>
        </p:nvSpPr>
        <p:spPr>
          <a:xfrm>
            <a:off x="7269480" y="3822192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069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ABLATION · DISJOINT SCORE TEST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7269480" y="4187952"/>
            <a:ext cx="1627632" cy="530352"/>
          </a:xfrm>
          <a:prstGeom prst="roundRect">
            <a:avLst>
              <a:gd name="adj" fmla="val 8621"/>
            </a:avLst>
          </a:prstGeom>
          <a:solidFill>
            <a:srgbClr val="E4F3EA"/>
          </a:solidFill>
          <a:ln w="10160">
            <a:solidFill>
              <a:srgbClr val="00693E"/>
            </a:solidFill>
          </a:ln>
        </p:spPr>
        <p:txBody>
          <a:bodyPr wrap="square" lIns="1778" tIns="1778" rIns="1778" bIns="1778" rtlCol="0" anchor="ctr"/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11,836 leaderboard candidates</a:t>
            </a:r>
            <a:endParaRPr lang="en-US" sz="1030" dirty="0"/>
          </a:p>
        </p:txBody>
      </p:sp>
      <p:sp>
        <p:nvSpPr>
          <p:cNvPr id="18" name="Shape 15"/>
          <p:cNvSpPr/>
          <p:nvPr/>
        </p:nvSpPr>
        <p:spPr>
          <a:xfrm>
            <a:off x="9025128" y="4453128"/>
            <a:ext cx="384048" cy="0"/>
          </a:xfrm>
          <a:prstGeom prst="line">
            <a:avLst/>
          </a:prstGeom>
          <a:noFill/>
          <a:ln w="19050">
            <a:solidFill>
              <a:srgbClr val="00693E"/>
            </a:solidFill>
            <a:prstDash val="solid"/>
            <a:tailEnd type="triangle"/>
          </a:ln>
        </p:spPr>
      </p:sp>
      <p:sp>
        <p:nvSpPr>
          <p:cNvPr id="19" name="Text 16"/>
          <p:cNvSpPr/>
          <p:nvPr/>
        </p:nvSpPr>
        <p:spPr>
          <a:xfrm>
            <a:off x="9537192" y="4187952"/>
            <a:ext cx="1938528" cy="530352"/>
          </a:xfrm>
          <a:prstGeom prst="roundRect">
            <a:avLst>
              <a:gd name="adj" fmla="val 8621"/>
            </a:avLst>
          </a:prstGeom>
          <a:solidFill>
            <a:srgbClr val="00693E"/>
          </a:solidFill>
          <a:ln w="10160">
            <a:solidFill>
              <a:srgbClr val="00693E"/>
            </a:solidFill>
          </a:ln>
        </p:spPr>
        <p:txBody>
          <a:bodyPr wrap="square" lIns="1778" tIns="1778" rIns="1778" bIns="1778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4,713 selected</a:t>
            </a:r>
            <a:endParaRPr lang="en-US" sz="1120" dirty="0"/>
          </a:p>
        </p:txBody>
      </p:sp>
      <p:sp>
        <p:nvSpPr>
          <p:cNvPr id="20" name="Text 17"/>
          <p:cNvSpPr/>
          <p:nvPr/>
        </p:nvSpPr>
        <p:spPr>
          <a:xfrm>
            <a:off x="7269480" y="4919472"/>
            <a:ext cx="4206240" cy="621792"/>
          </a:xfrm>
          <a:prstGeom prst="roundRect">
            <a:avLst>
              <a:gd name="adj" fmla="val 7353"/>
            </a:avLst>
          </a:prstGeom>
          <a:solidFill>
            <a:srgbClr val="FEE4E2"/>
          </a:solidFill>
          <a:ln w="10160">
            <a:solidFill>
              <a:srgbClr val="B42318"/>
            </a:solidFill>
          </a:ln>
        </p:spPr>
        <p:txBody>
          <a:bodyPr wrap="square" lIns="1778" tIns="1778" rIns="1778" bIns="1778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B42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Removed: 4,177 Phase 2 overlaps · 2,674 inaccessible repositories · 272 lower-priority duplicates</a:t>
            </a:r>
            <a:endParaRPr lang="en-US" sz="920" dirty="0"/>
          </a:p>
        </p:txBody>
      </p:sp>
      <p:sp>
        <p:nvSpPr>
          <p:cNvPr id="21" name="Text 18"/>
          <p:cNvSpPr/>
          <p:nvPr/>
        </p:nvSpPr>
        <p:spPr>
          <a:xfrm>
            <a:off x="7269480" y="5696712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score coverage high, rotate across model types, cap missing scores at 15%, and stop below 5,000 when no more rows pass.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566928" y="4700016"/>
            <a:ext cx="6236208" cy="713232"/>
          </a:xfrm>
          <a:prstGeom prst="roundRect">
            <a:avLst>
              <a:gd name="adj" fmla="val 6410"/>
            </a:avLst>
          </a:prstGeom>
          <a:solidFill>
            <a:srgbClr val="FFF4C7"/>
          </a:solidFill>
          <a:ln w="10160">
            <a:solidFill>
              <a:srgbClr val="FDB515"/>
            </a:solidFill>
          </a:ln>
        </p:spPr>
        <p:txBody>
          <a:bodyPr wrap="square" lIns="1778" tIns="1778" rIns="1778" bIns="1778" rtlCol="0" anchor="ctr"/>
          <a:lstStyle/>
          <a:p>
            <a:pPr algn="ctr" indent="0" marL="0">
              <a:buNone/>
            </a:pPr>
            <a:r>
              <a:rPr lang="en-US" sz="101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Collection metadata shapes coverage. Predictor features exclude these labels, but source selection and joins remain part of the evidence boundary.</a:t>
            </a:r>
            <a:endParaRPr lang="en-US" sz="101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715000" cy="50292"/>
          </a:xfrm>
          <a:prstGeom prst="rect">
            <a:avLst/>
          </a:prstGeom>
          <a:solidFill>
            <a:srgbClr val="00267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715000" y="0"/>
            <a:ext cx="3337560" cy="50292"/>
          </a:xfrm>
          <a:prstGeom prst="rect">
            <a:avLst/>
          </a:prstGeom>
          <a:solidFill>
            <a:srgbClr val="00693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052560" y="0"/>
            <a:ext cx="3139135" cy="50292"/>
          </a:xfrm>
          <a:prstGeom prst="rect">
            <a:avLst/>
          </a:prstGeom>
          <a:solidFill>
            <a:srgbClr val="FDB51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20116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069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DATASET DISTRIBUTION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30352" y="448056"/>
            <a:ext cx="11109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Selection buckets describe curation; ablation is benchmark-heavy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530352" y="969264"/>
            <a:ext cx="11109960" cy="0"/>
          </a:xfrm>
          <a:prstGeom prst="line">
            <a:avLst/>
          </a:prstGeom>
          <a:noFill/>
          <a:ln w="10160">
            <a:solidFill>
              <a:srgbClr val="D9E2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352" y="6556248"/>
            <a:ext cx="11109960" cy="0"/>
          </a:xfrm>
          <a:prstGeom prst="line">
            <a:avLst/>
          </a:prstGeom>
          <a:noFill/>
          <a:ln w="8890">
            <a:solidFill>
              <a:srgbClr val="D9E2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6620256"/>
            <a:ext cx="99669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Sources: completed run's Phase 2 and ablation source tables; architecture graph used descriptively after selection.</a:t>
            </a:r>
            <a:endParaRPr lang="en-US" sz="660" dirty="0"/>
          </a:p>
        </p:txBody>
      </p:sp>
      <p:sp>
        <p:nvSpPr>
          <p:cNvPr id="10" name="Text 8"/>
          <p:cNvSpPr/>
          <p:nvPr/>
        </p:nvSpPr>
        <p:spPr>
          <a:xfrm>
            <a:off x="11045952" y="6601968"/>
            <a:ext cx="5852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069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800" dirty="0"/>
          </a:p>
        </p:txBody>
      </p:sp>
      <p:pic>
        <p:nvPicPr>
          <p:cNvPr id="11" name="Image 0" descr="/scratch/kinshuk/Model-Research/deliverables/htsr_model_zoo_deck/assets/corpus_typ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2569" y="1069848"/>
            <a:ext cx="5393367" cy="3493008"/>
          </a:xfrm>
          <a:prstGeom prst="rect">
            <a:avLst/>
          </a:prstGeom>
        </p:spPr>
      </p:pic>
      <p:pic>
        <p:nvPicPr>
          <p:cNvPr id="12" name="Image 1" descr="/scratch/kinshuk/Model-Research/deliverables/htsr_model_zoo_deck/assets/corpus_architectur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4768" y="1093057"/>
            <a:ext cx="5623560" cy="344659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66928" y="4773168"/>
            <a:ext cx="5321808" cy="804672"/>
          </a:xfrm>
          <a:prstGeom prst="roundRect">
            <a:avLst>
              <a:gd name="adj" fmla="val 5682"/>
            </a:avLst>
          </a:prstGeom>
          <a:solidFill>
            <a:srgbClr val="EAF2FF"/>
          </a:solidFill>
          <a:ln w="10160">
            <a:solidFill>
              <a:srgbClr val="003B95"/>
            </a:solidFill>
          </a:ln>
        </p:spPr>
        <p:txBody>
          <a:bodyPr wrap="square" lIns="1778" tIns="1778" rIns="1778" bIns="1778" rtlCol="0" anchor="ctr"/>
          <a:lstStyle/>
          <a:p>
            <a:pPr algn="ctr" indent="0" marL="0">
              <a:buNone/>
            </a:pPr>
            <a:r>
              <a:rPr lang="en-US" sz="101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 2 · 15,000</a:t>
            </a:r>
            <a:endParaRPr lang="en-US" sz="1010" dirty="0"/>
          </a:p>
          <a:p>
            <a:pPr algn="ctr" indent="0" marL="0">
              <a:buNone/>
            </a:pPr>
            <a:r>
              <a:rPr lang="en-US" sz="101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2,922 average-score records · 13,301 declared source links</a:t>
            </a:r>
            <a:endParaRPr lang="en-US" sz="1010" dirty="0"/>
          </a:p>
          <a:p>
            <a:pPr algn="ctr" indent="0" marL="0">
              <a:buNone/>
            </a:pPr>
            <a:r>
              <a:rPr lang="en-US" sz="101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10,793 architecture labels · 2,284 parameter counts</a:t>
            </a:r>
            <a:endParaRPr lang="en-US" sz="1010" dirty="0"/>
          </a:p>
        </p:txBody>
      </p:sp>
      <p:sp>
        <p:nvSpPr>
          <p:cNvPr id="14" name="Text 10"/>
          <p:cNvSpPr/>
          <p:nvPr/>
        </p:nvSpPr>
        <p:spPr>
          <a:xfrm>
            <a:off x="6291072" y="4773168"/>
            <a:ext cx="5321808" cy="804672"/>
          </a:xfrm>
          <a:prstGeom prst="roundRect">
            <a:avLst>
              <a:gd name="adj" fmla="val 5682"/>
            </a:avLst>
          </a:prstGeom>
          <a:solidFill>
            <a:srgbClr val="E4F3EA"/>
          </a:solidFill>
          <a:ln w="10160">
            <a:solidFill>
              <a:srgbClr val="00693E"/>
            </a:solidFill>
          </a:ln>
        </p:spPr>
        <p:txBody>
          <a:bodyPr wrap="square" lIns="1778" tIns="1778" rIns="1778" bIns="1778" rtlCol="0" anchor="ctr"/>
          <a:lstStyle/>
          <a:p>
            <a:pPr algn="ctr" indent="0" marL="0">
              <a:buNone/>
            </a:pPr>
            <a:r>
              <a:rPr lang="en-US" sz="101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ABLATION · 4,713</a:t>
            </a:r>
            <a:endParaRPr lang="en-US" sz="1010" dirty="0"/>
          </a:p>
          <a:p>
            <a:pPr algn="ctr" indent="0" marL="0">
              <a:buNone/>
            </a:pPr>
            <a:r>
              <a:rPr lang="en-US" sz="101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4,662 average-score records · 291 declared source links</a:t>
            </a:r>
            <a:endParaRPr lang="en-US" sz="1010" dirty="0"/>
          </a:p>
          <a:p>
            <a:pPr algn="ctr" indent="0" marL="0">
              <a:buNone/>
            </a:pPr>
            <a:r>
              <a:rPr lang="en-US" sz="101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4,561 architecture labels · 4,349 parameter counts</a:t>
            </a:r>
            <a:endParaRPr lang="en-US" sz="1010" dirty="0"/>
          </a:p>
        </p:txBody>
      </p:sp>
      <p:sp>
        <p:nvSpPr>
          <p:cNvPr id="15" name="Text 11"/>
          <p:cNvSpPr/>
          <p:nvPr/>
        </p:nvSpPr>
        <p:spPr>
          <a:xfrm>
            <a:off x="658368" y="583387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Type-chart categories are selection buckets, not verified model types. Source links are declared, not verified ancestry; architecture labels are descriptive.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715000" cy="50292"/>
          </a:xfrm>
          <a:prstGeom prst="rect">
            <a:avLst/>
          </a:prstGeom>
          <a:solidFill>
            <a:srgbClr val="00267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715000" y="0"/>
            <a:ext cx="3337560" cy="50292"/>
          </a:xfrm>
          <a:prstGeom prst="rect">
            <a:avLst/>
          </a:prstGeom>
          <a:solidFill>
            <a:srgbClr val="00693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052560" y="0"/>
            <a:ext cx="3139135" cy="50292"/>
          </a:xfrm>
          <a:prstGeom prst="rect">
            <a:avLst/>
          </a:prstGeom>
          <a:solidFill>
            <a:srgbClr val="FDB51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20116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03B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FLOW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30352" y="448056"/>
            <a:ext cx="11109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Shared weight checks lead to task-specific coverage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530352" y="969264"/>
            <a:ext cx="11109960" cy="0"/>
          </a:xfrm>
          <a:prstGeom prst="line">
            <a:avLst/>
          </a:prstGeom>
          <a:noFill/>
          <a:ln w="10160">
            <a:solidFill>
              <a:srgbClr val="D9E2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352" y="6556248"/>
            <a:ext cx="11109960" cy="0"/>
          </a:xfrm>
          <a:prstGeom prst="line">
            <a:avLst/>
          </a:prstGeom>
          <a:noFill/>
          <a:ln w="8890">
            <a:solidFill>
              <a:srgbClr val="D9E2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6620256"/>
            <a:ext cx="99669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Sources: weight_only_2a5abfeb98dc33d9662c/population_ledger.csv; source-run provenance.json and exclusions.csv</a:t>
            </a:r>
            <a:endParaRPr lang="en-US" sz="660" dirty="0"/>
          </a:p>
        </p:txBody>
      </p:sp>
      <p:sp>
        <p:nvSpPr>
          <p:cNvPr id="10" name="Text 8"/>
          <p:cNvSpPr/>
          <p:nvPr/>
        </p:nvSpPr>
        <p:spPr>
          <a:xfrm>
            <a:off x="11045952" y="6601968"/>
            <a:ext cx="5852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03B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03504" y="1298448"/>
            <a:ext cx="2057400" cy="859536"/>
          </a:xfrm>
          <a:prstGeom prst="roundRect">
            <a:avLst>
              <a:gd name="adj" fmla="val 5319"/>
            </a:avLst>
          </a:prstGeom>
          <a:solidFill>
            <a:srgbClr val="EAF2FF"/>
          </a:solidFill>
          <a:ln w="10160">
            <a:solidFill>
              <a:srgbClr val="003B95"/>
            </a:solidFill>
          </a:ln>
        </p:spPr>
        <p:txBody>
          <a:bodyPr wrap="square" lIns="1778" tIns="1778" rIns="1778" bIns="177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 2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15,000 listed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70632" y="1728216"/>
            <a:ext cx="502920" cy="0"/>
          </a:xfrm>
          <a:prstGeom prst="line">
            <a:avLst/>
          </a:prstGeom>
          <a:noFill/>
          <a:ln w="19050">
            <a:solidFill>
              <a:srgbClr val="003B95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3401568" y="1298448"/>
            <a:ext cx="2148840" cy="859536"/>
          </a:xfrm>
          <a:prstGeom prst="roundRect">
            <a:avLst>
              <a:gd name="adj" fmla="val 5319"/>
            </a:avLst>
          </a:prstGeom>
          <a:solidFill>
            <a:srgbClr val="F7F9FC"/>
          </a:solidFill>
          <a:ln w="10160">
            <a:solidFill>
              <a:srgbClr val="667085"/>
            </a:solidFill>
          </a:ln>
        </p:spPr>
        <p:txBody>
          <a:bodyPr wrap="square" lIns="1778" tIns="1778" rIns="1778" bIns="1778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8,892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weight results found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660136" y="1728216"/>
            <a:ext cx="502920" cy="0"/>
          </a:xfrm>
          <a:prstGeom prst="line">
            <a:avLst/>
          </a:prstGeom>
          <a:noFill/>
          <a:ln w="19050">
            <a:solidFill>
              <a:srgbClr val="003B95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6291072" y="1298448"/>
            <a:ext cx="2148840" cy="859536"/>
          </a:xfrm>
          <a:prstGeom prst="roundRect">
            <a:avLst>
              <a:gd name="adj" fmla="val 5319"/>
            </a:avLst>
          </a:prstGeom>
          <a:solidFill>
            <a:srgbClr val="EAF2FF"/>
          </a:solidFill>
          <a:ln w="10160">
            <a:solidFill>
              <a:srgbClr val="003B95"/>
            </a:solidFill>
          </a:ln>
        </p:spPr>
        <p:txBody>
          <a:bodyPr wrap="square" lIns="1778" tIns="1778" rIns="1778" bIns="1778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7,802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lineage models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549640" y="1728216"/>
            <a:ext cx="438912" cy="0"/>
          </a:xfrm>
          <a:prstGeom prst="line">
            <a:avLst/>
          </a:prstGeom>
          <a:noFill/>
          <a:ln w="19050">
            <a:solidFill>
              <a:srgbClr val="003B95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603504" y="3346704"/>
            <a:ext cx="2057400" cy="859536"/>
          </a:xfrm>
          <a:prstGeom prst="roundRect">
            <a:avLst>
              <a:gd name="adj" fmla="val 5319"/>
            </a:avLst>
          </a:prstGeom>
          <a:solidFill>
            <a:srgbClr val="E4F3EA"/>
          </a:solidFill>
          <a:ln w="10160">
            <a:solidFill>
              <a:srgbClr val="00693E"/>
            </a:solidFill>
          </a:ln>
        </p:spPr>
        <p:txBody>
          <a:bodyPr wrap="square" lIns="1778" tIns="1778" rIns="1778" bIns="177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ABLATION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4,713 listed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770632" y="3776472"/>
            <a:ext cx="502920" cy="0"/>
          </a:xfrm>
          <a:prstGeom prst="line">
            <a:avLst/>
          </a:prstGeom>
          <a:noFill/>
          <a:ln w="19050">
            <a:solidFill>
              <a:srgbClr val="00693E"/>
            </a:solidFill>
            <a:prstDash val="solid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3401568" y="3346704"/>
            <a:ext cx="2148840" cy="859536"/>
          </a:xfrm>
          <a:prstGeom prst="roundRect">
            <a:avLst>
              <a:gd name="adj" fmla="val 5319"/>
            </a:avLst>
          </a:prstGeom>
          <a:solidFill>
            <a:srgbClr val="F7F9FC"/>
          </a:solidFill>
          <a:ln w="10160">
            <a:solidFill>
              <a:srgbClr val="667085"/>
            </a:solidFill>
          </a:ln>
        </p:spPr>
        <p:txBody>
          <a:bodyPr wrap="square" lIns="1778" tIns="1778" rIns="1778" bIns="1778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3,661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weight results found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660136" y="3776472"/>
            <a:ext cx="502920" cy="0"/>
          </a:xfrm>
          <a:prstGeom prst="line">
            <a:avLst/>
          </a:prstGeom>
          <a:noFill/>
          <a:ln w="19050">
            <a:solidFill>
              <a:srgbClr val="00693E"/>
            </a:solidFill>
            <a:prstDash val="solid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6291072" y="3346704"/>
            <a:ext cx="2148840" cy="859536"/>
          </a:xfrm>
          <a:prstGeom prst="roundRect">
            <a:avLst>
              <a:gd name="adj" fmla="val 5319"/>
            </a:avLst>
          </a:prstGeom>
          <a:solidFill>
            <a:srgbClr val="E4F3EA"/>
          </a:solidFill>
          <a:ln w="10160">
            <a:solidFill>
              <a:srgbClr val="00693E"/>
            </a:solidFill>
          </a:ln>
        </p:spPr>
        <p:txBody>
          <a:bodyPr wrap="square" lIns="1778" tIns="1778" rIns="1778" bIns="1778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3,144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lineage models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549640" y="3776472"/>
            <a:ext cx="438912" cy="0"/>
          </a:xfrm>
          <a:prstGeom prst="line">
            <a:avLst/>
          </a:prstGeom>
          <a:noFill/>
          <a:ln w="19050">
            <a:solidFill>
              <a:srgbClr val="00693E"/>
            </a:solidFill>
            <a:prstDash val="solid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9125712" y="2048256"/>
            <a:ext cx="2331720" cy="1481328"/>
          </a:xfrm>
          <a:prstGeom prst="roundRect">
            <a:avLst>
              <a:gd name="adj" fmla="val 3086"/>
            </a:avLst>
          </a:prstGeom>
          <a:solidFill>
            <a:srgbClr val="FFF4C7"/>
          </a:solidFill>
          <a:ln w="10160">
            <a:solidFill>
              <a:srgbClr val="FDB515"/>
            </a:solidFill>
          </a:ln>
        </p:spPr>
        <p:txBody>
          <a:bodyPr wrap="square" lIns="1778" tIns="1778" rIns="1778" bIns="1778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11,801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performance profiles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658368" y="4901184"/>
            <a:ext cx="10835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Strict seven-role core: 10,431 models. Reliable missing-role patterns add 515 lineage assignments. Performance uses the label-free cutoff of at least 4 observed roles.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58368" y="5532120"/>
            <a:ext cx="10835640" cy="530352"/>
          </a:xfrm>
          <a:prstGeom prst="roundRect">
            <a:avLst>
              <a:gd name="adj" fmla="val 8621"/>
            </a:avLst>
          </a:prstGeom>
          <a:solidFill>
            <a:srgbClr val="F7F9FC"/>
          </a:solidFill>
          <a:ln w="10160">
            <a:solidFill>
              <a:srgbClr val="D9E2EC"/>
            </a:solidFill>
          </a:ln>
        </p:spPr>
        <p:txBody>
          <a:bodyPr wrap="square" lIns="1778" tIns="1778" rIns="1778" bIns="1778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These are parent role-profile counts. The reassessment also uses all-matrix summaries; source IDs define the collection holdout, not predictor features.</a:t>
            </a:r>
            <a:endParaRPr lang="en-US" sz="10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715000" cy="50292"/>
          </a:xfrm>
          <a:prstGeom prst="rect">
            <a:avLst/>
          </a:prstGeom>
          <a:solidFill>
            <a:srgbClr val="00267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715000" y="0"/>
            <a:ext cx="3337560" cy="50292"/>
          </a:xfrm>
          <a:prstGeom prst="rect">
            <a:avLst/>
          </a:prstGeom>
          <a:solidFill>
            <a:srgbClr val="00693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052560" y="0"/>
            <a:ext cx="3139135" cy="50292"/>
          </a:xfrm>
          <a:prstGeom prst="rect">
            <a:avLst/>
          </a:prstGeom>
          <a:solidFill>
            <a:srgbClr val="FDB51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20116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03B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WEIGHT ANALYSIS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30352" y="448056"/>
            <a:ext cx="11109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Compare models using the layer roles that are actually observed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530352" y="969264"/>
            <a:ext cx="11109960" cy="0"/>
          </a:xfrm>
          <a:prstGeom prst="line">
            <a:avLst/>
          </a:prstGeom>
          <a:noFill/>
          <a:ln w="10160">
            <a:solidFill>
              <a:srgbClr val="D9E2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352" y="6556248"/>
            <a:ext cx="11109960" cy="0"/>
          </a:xfrm>
          <a:prstGeom prst="line">
            <a:avLst/>
          </a:prstGeom>
          <a:noFill/>
          <a:ln w="8890">
            <a:solidFill>
              <a:srgbClr val="D9E2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6620256"/>
            <a:ext cx="99669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Sources: stored DKS alpha values by layer; archive/reference-work/Spectral Signatures of Large Language Models.html</a:t>
            </a:r>
            <a:endParaRPr lang="en-US" sz="660" dirty="0"/>
          </a:p>
        </p:txBody>
      </p:sp>
      <p:sp>
        <p:nvSpPr>
          <p:cNvPr id="10" name="Text 8"/>
          <p:cNvSpPr/>
          <p:nvPr/>
        </p:nvSpPr>
        <p:spPr>
          <a:xfrm>
            <a:off x="11045952" y="6601968"/>
            <a:ext cx="5852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03B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94360" y="1353312"/>
            <a:ext cx="1600200" cy="621792"/>
          </a:xfrm>
          <a:prstGeom prst="roundRect">
            <a:avLst>
              <a:gd name="adj" fmla="val 7353"/>
            </a:avLst>
          </a:prstGeom>
          <a:solidFill>
            <a:srgbClr val="F7F9FC"/>
          </a:solidFill>
          <a:ln w="10160">
            <a:solidFill>
              <a:srgbClr val="D9E2EC"/>
            </a:solidFill>
          </a:ln>
        </p:spPr>
        <p:txBody>
          <a:bodyPr wrap="square" lIns="1778" tIns="1778" rIns="1778" bIns="1778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94360" y="210312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4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weight matrix</a:t>
            </a:r>
            <a:endParaRPr lang="en-US" sz="940" dirty="0"/>
          </a:p>
        </p:txBody>
      </p:sp>
      <p:sp>
        <p:nvSpPr>
          <p:cNvPr id="13" name="Shape 11"/>
          <p:cNvSpPr/>
          <p:nvPr/>
        </p:nvSpPr>
        <p:spPr>
          <a:xfrm>
            <a:off x="2286000" y="1664208"/>
            <a:ext cx="429768" cy="0"/>
          </a:xfrm>
          <a:prstGeom prst="line">
            <a:avLst/>
          </a:prstGeom>
          <a:noFill/>
          <a:ln w="19050">
            <a:solidFill>
              <a:srgbClr val="667085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2852928" y="1353312"/>
            <a:ext cx="1600200" cy="621792"/>
          </a:xfrm>
          <a:prstGeom prst="roundRect">
            <a:avLst>
              <a:gd name="adj" fmla="val 7353"/>
            </a:avLst>
          </a:prstGeom>
          <a:solidFill>
            <a:srgbClr val="F7F9FC"/>
          </a:solidFill>
          <a:ln w="10160">
            <a:solidFill>
              <a:srgbClr val="D9E2EC"/>
            </a:solidFill>
          </a:ln>
        </p:spPr>
        <p:txBody>
          <a:bodyPr wrap="square" lIns="1778" tIns="1778" rIns="1778" bIns="1778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W^T W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852928" y="210312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4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eigenvalues</a:t>
            </a:r>
            <a:endParaRPr lang="en-US" sz="940" dirty="0"/>
          </a:p>
        </p:txBody>
      </p:sp>
      <p:sp>
        <p:nvSpPr>
          <p:cNvPr id="16" name="Shape 14"/>
          <p:cNvSpPr/>
          <p:nvPr/>
        </p:nvSpPr>
        <p:spPr>
          <a:xfrm>
            <a:off x="4544568" y="1664208"/>
            <a:ext cx="429768" cy="0"/>
          </a:xfrm>
          <a:prstGeom prst="line">
            <a:avLst/>
          </a:prstGeom>
          <a:noFill/>
          <a:ln w="19050">
            <a:solidFill>
              <a:srgbClr val="667085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5111496" y="1353312"/>
            <a:ext cx="1600200" cy="621792"/>
          </a:xfrm>
          <a:prstGeom prst="roundRect">
            <a:avLst>
              <a:gd name="adj" fmla="val 7353"/>
            </a:avLst>
          </a:prstGeom>
          <a:solidFill>
            <a:srgbClr val="F7F9FC"/>
          </a:solidFill>
          <a:ln w="10160">
            <a:solidFill>
              <a:srgbClr val="D9E2EC"/>
            </a:solidFill>
          </a:ln>
        </p:spPr>
        <p:txBody>
          <a:bodyPr wrap="square" lIns="1778" tIns="1778" rIns="1778" bIns="1778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alpha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111496" y="210312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4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DKS tail fit</a:t>
            </a:r>
            <a:endParaRPr lang="en-US" sz="940" dirty="0"/>
          </a:p>
        </p:txBody>
      </p:sp>
      <p:sp>
        <p:nvSpPr>
          <p:cNvPr id="19" name="Shape 17"/>
          <p:cNvSpPr/>
          <p:nvPr/>
        </p:nvSpPr>
        <p:spPr>
          <a:xfrm>
            <a:off x="6803136" y="1664208"/>
            <a:ext cx="429768" cy="0"/>
          </a:xfrm>
          <a:prstGeom prst="line">
            <a:avLst/>
          </a:prstGeom>
          <a:noFill/>
          <a:ln w="19050">
            <a:solidFill>
              <a:srgbClr val="667085"/>
            </a:solidFill>
            <a:prstDash val="solid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7370064" y="1353312"/>
            <a:ext cx="1600200" cy="621792"/>
          </a:xfrm>
          <a:prstGeom prst="roundRect">
            <a:avLst>
              <a:gd name="adj" fmla="val 7353"/>
            </a:avLst>
          </a:prstGeom>
          <a:solidFill>
            <a:srgbClr val="F7F9FC"/>
          </a:solidFill>
          <a:ln w="10160">
            <a:solidFill>
              <a:srgbClr val="D9E2EC"/>
            </a:solidFill>
          </a:ln>
        </p:spPr>
        <p:txBody>
          <a:bodyPr wrap="square" lIns="1778" tIns="1778" rIns="1778" bIns="1778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1-7 roles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370064" y="210312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4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ordered layers</a:t>
            </a:r>
            <a:endParaRPr lang="en-US" sz="940" dirty="0"/>
          </a:p>
        </p:txBody>
      </p:sp>
      <p:sp>
        <p:nvSpPr>
          <p:cNvPr id="22" name="Shape 20"/>
          <p:cNvSpPr/>
          <p:nvPr/>
        </p:nvSpPr>
        <p:spPr>
          <a:xfrm>
            <a:off x="9061704" y="1664208"/>
            <a:ext cx="429768" cy="0"/>
          </a:xfrm>
          <a:prstGeom prst="line">
            <a:avLst/>
          </a:prstGeom>
          <a:noFill/>
          <a:ln w="19050">
            <a:solidFill>
              <a:srgbClr val="667085"/>
            </a:solidFill>
            <a:prstDash val="solid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9628632" y="1353312"/>
            <a:ext cx="1600200" cy="621792"/>
          </a:xfrm>
          <a:prstGeom prst="roundRect">
            <a:avLst>
              <a:gd name="adj" fmla="val 7353"/>
            </a:avLst>
          </a:prstGeom>
          <a:solidFill>
            <a:srgbClr val="003B95"/>
          </a:solidFill>
          <a:ln w="10160">
            <a:solidFill>
              <a:srgbClr val="003B95"/>
            </a:solidFill>
          </a:ln>
        </p:spPr>
        <p:txBody>
          <a:bodyPr wrap="square" lIns="1778" tIns="1778" rIns="1778" bIns="1778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role ranks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628632" y="210312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4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observed-role summary</a:t>
            </a:r>
            <a:endParaRPr lang="en-US" sz="940" dirty="0"/>
          </a:p>
        </p:txBody>
      </p:sp>
      <p:sp>
        <p:nvSpPr>
          <p:cNvPr id="25" name="Text 23"/>
          <p:cNvSpPr/>
          <p:nvPr/>
        </p:nvSpPr>
        <p:spPr>
          <a:xfrm>
            <a:off x="621792" y="2788920"/>
            <a:ext cx="5285232" cy="521208"/>
          </a:xfrm>
          <a:prstGeom prst="roundRect">
            <a:avLst>
              <a:gd name="adj" fmla="val 8772"/>
            </a:avLst>
          </a:prstGeom>
          <a:solidFill>
            <a:srgbClr val="EAF2FF"/>
          </a:solidFill>
          <a:ln w="10160">
            <a:solidFill>
              <a:srgbClr val="003B95"/>
            </a:solidFill>
          </a:ln>
        </p:spPr>
        <p:txBody>
          <a:bodyPr wrap="square" lIns="1778" tIns="1778" rIns="1778" bIns="177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Attention: query · key · value · output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291072" y="2788920"/>
            <a:ext cx="5285232" cy="521208"/>
          </a:xfrm>
          <a:prstGeom prst="roundRect">
            <a:avLst>
              <a:gd name="adj" fmla="val 8772"/>
            </a:avLst>
          </a:prstGeom>
          <a:solidFill>
            <a:srgbClr val="E4F3EA"/>
          </a:solidFill>
          <a:ln w="10160">
            <a:solidFill>
              <a:srgbClr val="00693E"/>
            </a:solidFill>
          </a:ln>
        </p:spPr>
        <p:txBody>
          <a:bodyPr wrap="square" lIns="1778" tIns="1778" rIns="1778" bIns="177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Feed-forward: gate · up · down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21792" y="373075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03B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STUDY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21792" y="4096512"/>
            <a:ext cx="5285232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 stored DKS alpha, not a WeightWatcher run · depth scaled to [0,1] · 32 positions per observed role · within-role ranks for grouping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291072" y="3730752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069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 PAPER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291072" y="4096512"/>
            <a:ext cx="5285232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Fixed-tail Hill alpha, k=n/2 · raw-alpha clustering · role-wise Spearman similarity · order-preserving DP for unequal depths · MoE experts averaged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21792" y="5413248"/>
            <a:ext cx="10954512" cy="566928"/>
          </a:xfrm>
          <a:prstGeom prst="roundRect">
            <a:avLst>
              <a:gd name="adj" fmla="val 8065"/>
            </a:avLst>
          </a:prstGeom>
          <a:solidFill>
            <a:srgbClr val="FFF4C7"/>
          </a:solidFill>
          <a:ln w="10160">
            <a:solidFill>
              <a:srgbClr val="FDB515"/>
            </a:solidFill>
          </a:ln>
        </p:spPr>
        <p:txBody>
          <a:bodyPr wrap="square" lIns="1778" tIns="1778" rIns="1778" bIns="1778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Ranks discard alpha offsets, scales, and spacing, but retain order. Absolute alpha and other saved matrix statistics can still carry performance signal.</a:t>
            </a:r>
            <a:endParaRPr lang="en-US" sz="10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715000" cy="50292"/>
          </a:xfrm>
          <a:prstGeom prst="rect">
            <a:avLst/>
          </a:prstGeom>
          <a:solidFill>
            <a:srgbClr val="00267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715000" y="0"/>
            <a:ext cx="3337560" cy="50292"/>
          </a:xfrm>
          <a:prstGeom prst="rect">
            <a:avLst/>
          </a:prstGeom>
          <a:solidFill>
            <a:srgbClr val="00693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052560" y="0"/>
            <a:ext cx="3139135" cy="50292"/>
          </a:xfrm>
          <a:prstGeom prst="rect">
            <a:avLst/>
          </a:prstGeom>
          <a:solidFill>
            <a:srgbClr val="FDB51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20116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03B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30352" y="448056"/>
            <a:ext cx="11109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Role coverage and all-matrix coverage answer different questions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530352" y="969264"/>
            <a:ext cx="11109960" cy="0"/>
          </a:xfrm>
          <a:prstGeom prst="line">
            <a:avLst/>
          </a:prstGeom>
          <a:noFill/>
          <a:ln w="10160">
            <a:solidFill>
              <a:srgbClr val="D9E2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352" y="6556248"/>
            <a:ext cx="11109960" cy="0"/>
          </a:xfrm>
          <a:prstGeom prst="line">
            <a:avLst/>
          </a:prstGeom>
          <a:noFill/>
          <a:ln w="8890">
            <a:solidFill>
              <a:srgbClr val="D9E2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6620256"/>
            <a:ext cx="99669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Sources: parent population_ledger.csv; reassessment_0063666fd5733b453c38/metadata.json and all_matrix_cluster_validation.csv</a:t>
            </a:r>
            <a:endParaRPr lang="en-US" sz="660" dirty="0"/>
          </a:p>
        </p:txBody>
      </p:sp>
      <p:sp>
        <p:nvSpPr>
          <p:cNvPr id="10" name="Text 8"/>
          <p:cNvSpPr/>
          <p:nvPr/>
        </p:nvSpPr>
        <p:spPr>
          <a:xfrm>
            <a:off x="11045952" y="6601968"/>
            <a:ext cx="5852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03B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800" dirty="0"/>
          </a:p>
        </p:txBody>
      </p:sp>
      <p:pic>
        <p:nvPicPr>
          <p:cNvPr id="11" name="Image 0" descr="/scratch/kinshuk/Model-Research/deliverables/htsr_model_zoo_deck/assets/corpus_cover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" y="1999781"/>
            <a:ext cx="7360920" cy="334307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156448" y="1252728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0267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10,431</a:t>
            </a:r>
            <a:endParaRPr lang="en-US" sz="2700" dirty="0"/>
          </a:p>
        </p:txBody>
      </p:sp>
      <p:sp>
        <p:nvSpPr>
          <p:cNvPr id="13" name="Text 10"/>
          <p:cNvSpPr/>
          <p:nvPr/>
        </p:nvSpPr>
        <p:spPr>
          <a:xfrm>
            <a:off x="8156448" y="173736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strict seven-role core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8156448" y="2395728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03B9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10,946</a:t>
            </a:r>
            <a:endParaRPr lang="en-US" sz="2700" dirty="0"/>
          </a:p>
        </p:txBody>
      </p:sp>
      <p:sp>
        <p:nvSpPr>
          <p:cNvPr id="15" name="Text 12"/>
          <p:cNvSpPr/>
          <p:nvPr/>
        </p:nvSpPr>
        <p:spPr>
          <a:xfrm>
            <a:off x="8156448" y="288036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lineage assignments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8156448" y="3538728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069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12,365</a:t>
            </a:r>
            <a:endParaRPr lang="en-US" sz="2700" dirty="0"/>
          </a:p>
        </p:txBody>
      </p:sp>
      <p:sp>
        <p:nvSpPr>
          <p:cNvPr id="17" name="Text 14"/>
          <p:cNvSpPr/>
          <p:nvPr/>
        </p:nvSpPr>
        <p:spPr>
          <a:xfrm>
            <a:off x="8156448" y="402336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all-matrix alpha eligible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8065008" y="4828032"/>
            <a:ext cx="3154680" cy="941832"/>
          </a:xfrm>
          <a:prstGeom prst="roundRect">
            <a:avLst>
              <a:gd name="adj" fmla="val 4854"/>
            </a:avLst>
          </a:prstGeom>
          <a:solidFill>
            <a:srgbClr val="F7F9FC"/>
          </a:solidFill>
          <a:ln w="10160">
            <a:solidFill>
              <a:srgbClr val="D9E2EC"/>
            </a:solidFill>
          </a:ln>
        </p:spPr>
        <p:txBody>
          <a:bodyPr wrap="square" lIns="1778" tIns="1778" rIns="1778" bIns="177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Broader eligibility does not imply better grouping. All-matrix family ARI 0.258 vs rank 0.913 on human-reviewed labels; populations differ.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715000" cy="50292"/>
          </a:xfrm>
          <a:prstGeom prst="rect">
            <a:avLst/>
          </a:prstGeom>
          <a:solidFill>
            <a:srgbClr val="00267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715000" y="0"/>
            <a:ext cx="3337560" cy="50292"/>
          </a:xfrm>
          <a:prstGeom prst="rect">
            <a:avLst/>
          </a:prstGeom>
          <a:solidFill>
            <a:srgbClr val="00693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052560" y="0"/>
            <a:ext cx="3139135" cy="50292"/>
          </a:xfrm>
          <a:prstGeom prst="rect">
            <a:avLst/>
          </a:prstGeom>
          <a:solidFill>
            <a:srgbClr val="FDB51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20116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069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LINEAGE DISCOVERY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30352" y="448056"/>
            <a:ext cx="11109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17 core groups give the clearest separation without family labels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530352" y="969264"/>
            <a:ext cx="11109960" cy="0"/>
          </a:xfrm>
          <a:prstGeom prst="line">
            <a:avLst/>
          </a:prstGeom>
          <a:noFill/>
          <a:ln w="10160">
            <a:solidFill>
              <a:srgbClr val="D9E2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352" y="6556248"/>
            <a:ext cx="11109960" cy="0"/>
          </a:xfrm>
          <a:prstGeom prst="line">
            <a:avLst/>
          </a:prstGeom>
          <a:noFill/>
          <a:ln w="8890">
            <a:solidFill>
              <a:srgbClr val="D9E2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6620256"/>
            <a:ext cx="99669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Sources: weight_only_2a5abfeb98dc33d9662c/lineage_cluster_selection.csv and lineage_internal_metrics.csv</a:t>
            </a:r>
            <a:endParaRPr lang="en-US" sz="660" dirty="0"/>
          </a:p>
        </p:txBody>
      </p:sp>
      <p:sp>
        <p:nvSpPr>
          <p:cNvPr id="10" name="Text 8"/>
          <p:cNvSpPr/>
          <p:nvPr/>
        </p:nvSpPr>
        <p:spPr>
          <a:xfrm>
            <a:off x="11045952" y="6601968"/>
            <a:ext cx="5852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069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800" dirty="0"/>
          </a:p>
        </p:txBody>
      </p:sp>
      <p:pic>
        <p:nvPicPr>
          <p:cNvPr id="11" name="Image 0" descr="/scratch/kinshuk/Model-Research/deliverables/htsr_model_zoo_deck/assets/cluster_selec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" y="1612955"/>
            <a:ext cx="7269480" cy="4052715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973568" y="1371600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03B9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0.607</a:t>
            </a:r>
            <a:endParaRPr lang="en-US" sz="2700" dirty="0"/>
          </a:p>
        </p:txBody>
      </p:sp>
      <p:sp>
        <p:nvSpPr>
          <p:cNvPr id="13" name="Text 10"/>
          <p:cNvSpPr/>
          <p:nvPr/>
        </p:nvSpPr>
        <p:spPr>
          <a:xfrm>
            <a:off x="7973568" y="185623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group separation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7973568" y="21945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4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higher is better</a:t>
            </a:r>
            <a:endParaRPr lang="en-US" sz="840" dirty="0"/>
          </a:p>
        </p:txBody>
      </p:sp>
      <p:sp>
        <p:nvSpPr>
          <p:cNvPr id="15" name="Text 12"/>
          <p:cNvSpPr/>
          <p:nvPr/>
        </p:nvSpPr>
        <p:spPr>
          <a:xfrm>
            <a:off x="9756648" y="1371600"/>
            <a:ext cx="16642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069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0.944</a:t>
            </a:r>
            <a:endParaRPr lang="en-US" sz="2700" dirty="0"/>
          </a:p>
        </p:txBody>
      </p:sp>
      <p:sp>
        <p:nvSpPr>
          <p:cNvPr id="16" name="Text 13"/>
          <p:cNvSpPr/>
          <p:nvPr/>
        </p:nvSpPr>
        <p:spPr>
          <a:xfrm>
            <a:off x="9756648" y="1856232"/>
            <a:ext cx="1664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repeat-run agreement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9756648" y="2194560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4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average of 3 reruns</a:t>
            </a:r>
            <a:endParaRPr lang="en-US" sz="840" dirty="0"/>
          </a:p>
        </p:txBody>
      </p:sp>
      <p:sp>
        <p:nvSpPr>
          <p:cNvPr id="18" name="Text 15"/>
          <p:cNvSpPr/>
          <p:nvPr/>
        </p:nvSpPr>
        <p:spPr>
          <a:xfrm>
            <a:off x="7973568" y="2816352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9A6A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0.883</a:t>
            </a:r>
            <a:endParaRPr lang="en-US" sz="2700" dirty="0"/>
          </a:p>
        </p:txBody>
      </p:sp>
      <p:sp>
        <p:nvSpPr>
          <p:cNvPr id="19" name="Text 16"/>
          <p:cNvSpPr/>
          <p:nvPr/>
        </p:nvSpPr>
        <p:spPr>
          <a:xfrm>
            <a:off x="7973568" y="3300984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lowest rerun agreement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9756648" y="2816352"/>
            <a:ext cx="16642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66708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1.541</a:t>
            </a:r>
            <a:endParaRPr lang="en-US" sz="2700" dirty="0"/>
          </a:p>
        </p:txBody>
      </p:sp>
      <p:sp>
        <p:nvSpPr>
          <p:cNvPr id="21" name="Text 18"/>
          <p:cNvSpPr/>
          <p:nvPr/>
        </p:nvSpPr>
        <p:spPr>
          <a:xfrm>
            <a:off x="9756648" y="3300984"/>
            <a:ext cx="1664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within/between spread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9756648" y="3639312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4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lower is better</a:t>
            </a:r>
            <a:endParaRPr lang="en-US" sz="840" dirty="0"/>
          </a:p>
        </p:txBody>
      </p:sp>
      <p:sp>
        <p:nvSpPr>
          <p:cNvPr id="23" name="Text 20"/>
          <p:cNvSpPr/>
          <p:nvPr/>
        </p:nvSpPr>
        <p:spPr>
          <a:xfrm>
            <a:off x="7973568" y="4297680"/>
            <a:ext cx="3447288" cy="1325880"/>
          </a:xfrm>
          <a:prstGeom prst="roundRect">
            <a:avLst>
              <a:gd name="adj" fmla="val 3448"/>
            </a:avLst>
          </a:prstGeom>
          <a:solidFill>
            <a:srgbClr val="E4F3EA"/>
          </a:solidFill>
          <a:ln w="10160">
            <a:solidFill>
              <a:srgbClr val="00693E"/>
            </a:solidFill>
          </a:ln>
        </p:spPr>
        <p:txBody>
          <a:bodyPr wrap="square" lIns="1778" tIns="1778" rIns="1778" bIns="1778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17 WAS CHOSEN</a:t>
            </a:r>
            <a:endParaRPr lang="en-US" sz="1120" dirty="0"/>
          </a:p>
          <a:p>
            <a:pPr algn="ctr" indent="0" marL="0">
              <a:buNone/>
            </a:pPr>
            <a:endParaRPr lang="en-US" sz="1120" dirty="0"/>
          </a:p>
          <a:p>
            <a:pPr algn="ctr" indent="0" marL="0">
              <a:buNone/>
            </a:pPr>
            <a:r>
              <a:rPr lang="en-US" sz="112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Fit candidate counts on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10,431 complete profiles</a:t>
            </a:r>
            <a:endParaRPr lang="en-US" sz="1120" dirty="0"/>
          </a:p>
          <a:p>
            <a:pPr algn="ctr" indent="0" marL="0">
              <a:buNone/>
            </a:pPr>
            <a:endParaRPr lang="en-US" sz="1120" dirty="0"/>
          </a:p>
          <a:p>
            <a:pPr algn="ctr" indent="0" marL="0">
              <a:buNone/>
            </a:pPr>
            <a:r>
              <a:rPr lang="en-US" sz="112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the count with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best separation</a:t>
            </a:r>
            <a:endParaRPr lang="en-US" sz="1120" dirty="0"/>
          </a:p>
        </p:txBody>
      </p:sp>
      <p:sp>
        <p:nvSpPr>
          <p:cNvPr id="24" name="Text 21"/>
          <p:cNvSpPr/>
          <p:nvPr/>
        </p:nvSpPr>
        <p:spPr>
          <a:xfrm>
            <a:off x="8001000" y="577900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9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515 partial profiles are attached only after label-free masking checks pass.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715000" cy="50292"/>
          </a:xfrm>
          <a:prstGeom prst="rect">
            <a:avLst/>
          </a:prstGeom>
          <a:solidFill>
            <a:srgbClr val="00267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715000" y="0"/>
            <a:ext cx="3337560" cy="50292"/>
          </a:xfrm>
          <a:prstGeom prst="rect">
            <a:avLst/>
          </a:prstGeom>
          <a:solidFill>
            <a:srgbClr val="00693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052560" y="0"/>
            <a:ext cx="3139135" cy="50292"/>
          </a:xfrm>
          <a:prstGeom prst="rect">
            <a:avLst/>
          </a:prstGeom>
          <a:solidFill>
            <a:srgbClr val="FDB51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20116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069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 AFTER PREDICTION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30352" y="448056"/>
            <a:ext cx="11109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Validate grouping against overlapping, imperfect label views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530352" y="969264"/>
            <a:ext cx="11109960" cy="0"/>
          </a:xfrm>
          <a:prstGeom prst="line">
            <a:avLst/>
          </a:prstGeom>
          <a:noFill/>
          <a:ln w="10160">
            <a:solidFill>
              <a:srgbClr val="D9E2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352" y="6556248"/>
            <a:ext cx="11109960" cy="0"/>
          </a:xfrm>
          <a:prstGeom prst="line">
            <a:avLst/>
          </a:prstGeom>
          <a:noFill/>
          <a:ln w="8890">
            <a:solidFill>
              <a:srgbClr val="D9E2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6620256"/>
            <a:ext cx="99669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Sources: parent lineage_validation_metrics.csv; reassessment_0063666fd5733b453c38/all_matrix_cluster_validation.csv</a:t>
            </a:r>
            <a:endParaRPr lang="en-US" sz="660" dirty="0"/>
          </a:p>
        </p:txBody>
      </p:sp>
      <p:sp>
        <p:nvSpPr>
          <p:cNvPr id="10" name="Text 8"/>
          <p:cNvSpPr/>
          <p:nvPr/>
        </p:nvSpPr>
        <p:spPr>
          <a:xfrm>
            <a:off x="11045952" y="6601968"/>
            <a:ext cx="5852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069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800" dirty="0"/>
          </a:p>
        </p:txBody>
      </p:sp>
      <p:pic>
        <p:nvPicPr>
          <p:cNvPr id="11" name="Image 0" descr="/scratch/kinshuk/Model-Research/deliverables/htsr_model_zoo_deck/assets/validation_agreem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1609939"/>
            <a:ext cx="6656832" cy="3491817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278624" y="125272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069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LABELS OPENED AFTER GROUPING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7278624" y="1664208"/>
            <a:ext cx="1325880" cy="658368"/>
          </a:xfrm>
          <a:prstGeom prst="roundRect">
            <a:avLst>
              <a:gd name="adj" fmla="val 6944"/>
            </a:avLst>
          </a:prstGeom>
          <a:solidFill>
            <a:srgbClr val="EAF2FF"/>
          </a:solidFill>
          <a:ln w="10160">
            <a:solidFill>
              <a:srgbClr val="003B95"/>
            </a:solidFill>
          </a:ln>
        </p:spPr>
        <p:txBody>
          <a:bodyPr wrap="square" lIns="1778" tIns="1778" rIns="1778" bIns="177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Human-reviewed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8796528" y="1682496"/>
            <a:ext cx="254203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174 models assigned to 11 broad base families by manual review.</a:t>
            </a:r>
            <a:endParaRPr lang="en-US" sz="940" dirty="0"/>
          </a:p>
        </p:txBody>
      </p:sp>
      <p:sp>
        <p:nvSpPr>
          <p:cNvPr id="15" name="Text 12"/>
          <p:cNvSpPr/>
          <p:nvPr/>
        </p:nvSpPr>
        <p:spPr>
          <a:xfrm>
            <a:off x="7278624" y="2752344"/>
            <a:ext cx="1325880" cy="658368"/>
          </a:xfrm>
          <a:prstGeom prst="roundRect">
            <a:avLst>
              <a:gd name="adj" fmla="val 6944"/>
            </a:avLst>
          </a:prstGeom>
          <a:solidFill>
            <a:srgbClr val="E4F3EA"/>
          </a:solidFill>
          <a:ln w="10160">
            <a:solidFill>
              <a:srgbClr val="00693E"/>
            </a:solidFill>
          </a:ln>
        </p:spPr>
        <p:txBody>
          <a:bodyPr wrap="square" lIns="1778" tIns="1778" rIns="1778" bIns="177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Metadata agreement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8796528" y="2770632"/>
            <a:ext cx="254203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2,981 models assigned to 11 broad families when metadata rules agree.</a:t>
            </a:r>
            <a:endParaRPr lang="en-US" sz="940" dirty="0"/>
          </a:p>
        </p:txBody>
      </p:sp>
      <p:sp>
        <p:nvSpPr>
          <p:cNvPr id="17" name="Text 14"/>
          <p:cNvSpPr/>
          <p:nvPr/>
        </p:nvSpPr>
        <p:spPr>
          <a:xfrm>
            <a:off x="7278624" y="3840480"/>
            <a:ext cx="1325880" cy="658368"/>
          </a:xfrm>
          <a:prstGeom prst="roundRect">
            <a:avLst>
              <a:gd name="adj" fmla="val 6944"/>
            </a:avLst>
          </a:prstGeom>
          <a:solidFill>
            <a:srgbClr val="FFF4C7"/>
          </a:solidFill>
          <a:ln w="10160">
            <a:solidFill>
              <a:srgbClr val="9A6A00"/>
            </a:solidFill>
          </a:ln>
        </p:spPr>
        <p:txBody>
          <a:bodyPr wrap="square" lIns="1778" tIns="1778" rIns="1778" bIns="177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Declared roots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8796528" y="3858768"/>
            <a:ext cx="254203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5,013 models linked to 529 graph-component roots; not verified historical ancestry.</a:t>
            </a:r>
            <a:endParaRPr lang="en-US" sz="940" dirty="0"/>
          </a:p>
        </p:txBody>
      </p:sp>
      <p:sp>
        <p:nvSpPr>
          <p:cNvPr id="19" name="Text 16"/>
          <p:cNvSpPr/>
          <p:nvPr/>
        </p:nvSpPr>
        <p:spPr>
          <a:xfrm>
            <a:off x="566928" y="5559552"/>
            <a:ext cx="3383280" cy="658368"/>
          </a:xfrm>
          <a:prstGeom prst="roundRect">
            <a:avLst>
              <a:gd name="adj" fmla="val 6944"/>
            </a:avLst>
          </a:prstGeom>
          <a:solidFill>
            <a:srgbClr val="EAF2FF"/>
          </a:solidFill>
          <a:ln w="10160">
            <a:solidFill>
              <a:srgbClr val="003B95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ARI</a:t>
            </a:r>
            <a:endParaRPr lang="en-US" sz="860" dirty="0"/>
          </a:p>
          <a:p>
            <a:pPr algn="ctr" indent="0" marL="0">
              <a:buNone/>
            </a:pPr>
            <a:r>
              <a:rPr lang="en-US" sz="86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Pairwise grouping agreement, corrected for chance. 1 means identical grouping.</a:t>
            </a:r>
            <a:endParaRPr lang="en-US" sz="860" dirty="0"/>
          </a:p>
        </p:txBody>
      </p:sp>
      <p:sp>
        <p:nvSpPr>
          <p:cNvPr id="20" name="Text 17"/>
          <p:cNvSpPr/>
          <p:nvPr/>
        </p:nvSpPr>
        <p:spPr>
          <a:xfrm>
            <a:off x="4270248" y="5559552"/>
            <a:ext cx="3383280" cy="658368"/>
          </a:xfrm>
          <a:prstGeom prst="roundRect">
            <a:avLst>
              <a:gd name="adj" fmla="val 6944"/>
            </a:avLst>
          </a:prstGeom>
          <a:solidFill>
            <a:srgbClr val="E4F3EA"/>
          </a:solidFill>
          <a:ln w="10160">
            <a:solidFill>
              <a:srgbClr val="00693E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Shared information</a:t>
            </a:r>
            <a:endParaRPr lang="en-US" sz="860" dirty="0"/>
          </a:p>
          <a:p>
            <a:pPr algn="ctr" indent="0" marL="0">
              <a:buNone/>
            </a:pPr>
            <a:r>
              <a:rPr lang="en-US" sz="86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much knowing one grouping tells us about the other. 1 is complete.</a:t>
            </a:r>
            <a:endParaRPr lang="en-US" sz="860" dirty="0"/>
          </a:p>
        </p:txBody>
      </p:sp>
      <p:sp>
        <p:nvSpPr>
          <p:cNvPr id="21" name="Text 18"/>
          <p:cNvSpPr/>
          <p:nvPr/>
        </p:nvSpPr>
        <p:spPr>
          <a:xfrm>
            <a:off x="7973568" y="5559552"/>
            <a:ext cx="3383280" cy="658368"/>
          </a:xfrm>
          <a:prstGeom prst="roundRect">
            <a:avLst>
              <a:gd name="adj" fmla="val 6944"/>
            </a:avLst>
          </a:prstGeom>
          <a:solidFill>
            <a:srgbClr val="FFF4C7"/>
          </a:solidFill>
          <a:ln w="10160">
            <a:solidFill>
              <a:srgbClr val="9A6A00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Purity</a:t>
            </a:r>
            <a:endParaRPr lang="en-US" sz="860" dirty="0"/>
          </a:p>
          <a:p>
            <a:pPr algn="ctr" indent="0" marL="0">
              <a:buNone/>
            </a:pPr>
            <a:r>
              <a:rPr lang="en-US" sz="86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Majority-label share inside each predicted group. It can favor too many small groups.</a:t>
            </a:r>
            <a:endParaRPr lang="en-US" sz="86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715000" cy="50292"/>
          </a:xfrm>
          <a:prstGeom prst="rect">
            <a:avLst/>
          </a:prstGeom>
          <a:solidFill>
            <a:srgbClr val="00267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715000" y="0"/>
            <a:ext cx="3337560" cy="50292"/>
          </a:xfrm>
          <a:prstGeom prst="rect">
            <a:avLst/>
          </a:prstGeom>
          <a:solidFill>
            <a:srgbClr val="00693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052560" y="0"/>
            <a:ext cx="3139135" cy="50292"/>
          </a:xfrm>
          <a:prstGeom prst="rect">
            <a:avLst/>
          </a:prstGeom>
          <a:solidFill>
            <a:srgbClr val="FDB51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20116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026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KNOWN-CANDIDATE LINEAGE TEST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30352" y="448056"/>
            <a:ext cx="11109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Base matching depends on the comparison and treatment of ties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530352" y="969264"/>
            <a:ext cx="11109960" cy="0"/>
          </a:xfrm>
          <a:prstGeom prst="line">
            <a:avLst/>
          </a:prstGeom>
          <a:noFill/>
          <a:ln w="10160">
            <a:solidFill>
              <a:srgbClr val="D9E2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352" y="6556248"/>
            <a:ext cx="11109960" cy="0"/>
          </a:xfrm>
          <a:prstGeom prst="line">
            <a:avLst/>
          </a:prstGeom>
          <a:noFill/>
          <a:ln w="8890">
            <a:solidFill>
              <a:srgbClr val="D9E2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6620256"/>
            <a:ext cx="99669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Sources: reassessment_0063666fd5733b453c38/lineage_gallery_metrics.csv; audit/gallery_tie_sensitivity.csv. Trace: arxiv.org/html/2608.07786v1</a:t>
            </a:r>
            <a:endParaRPr lang="en-US" sz="660" dirty="0"/>
          </a:p>
        </p:txBody>
      </p:sp>
      <p:sp>
        <p:nvSpPr>
          <p:cNvPr id="10" name="Text 8"/>
          <p:cNvSpPr/>
          <p:nvPr/>
        </p:nvSpPr>
        <p:spPr>
          <a:xfrm>
            <a:off x="11045952" y="6601968"/>
            <a:ext cx="5852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026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800" dirty="0"/>
          </a:p>
        </p:txBody>
      </p:sp>
      <p:pic>
        <p:nvPicPr>
          <p:cNvPr id="11" name="Image 0" descr="/scratch/kinshuk/Model-Research/deliverables/htsr_model_zoo_deck/assets/review_galle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1504282"/>
            <a:ext cx="6903720" cy="397745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635240" y="1298448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0267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29 / 38</a:t>
            </a:r>
            <a:endParaRPr lang="en-US" sz="2700" dirty="0"/>
          </a:p>
        </p:txBody>
      </p:sp>
      <p:sp>
        <p:nvSpPr>
          <p:cNvPr id="13" name="Text 10"/>
          <p:cNvSpPr/>
          <p:nvPr/>
        </p:nvSpPr>
        <p:spPr>
          <a:xfrm>
            <a:off x="7635240" y="178308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available / supplied bases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9710928" y="1298448"/>
            <a:ext cx="1810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03B9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3,802</a:t>
            </a:r>
            <a:endParaRPr lang="en-US" sz="2700" dirty="0"/>
          </a:p>
        </p:txBody>
      </p:sp>
      <p:sp>
        <p:nvSpPr>
          <p:cNvPr id="15" name="Text 12"/>
          <p:cNvSpPr/>
          <p:nvPr/>
        </p:nvSpPr>
        <p:spPr>
          <a:xfrm>
            <a:off x="9710928" y="1783080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matched known-root queries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7635240" y="2560320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03B9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82.30%</a:t>
            </a:r>
            <a:endParaRPr lang="en-US" sz="2700" dirty="0"/>
          </a:p>
        </p:txBody>
      </p:sp>
      <p:sp>
        <p:nvSpPr>
          <p:cNvPr id="17" name="Text 14"/>
          <p:cNvSpPr/>
          <p:nvPr/>
        </p:nvSpPr>
        <p:spPr>
          <a:xfrm>
            <a:off x="7635240" y="3044952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rank top-1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9710928" y="2560320"/>
            <a:ext cx="1810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069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85.19%</a:t>
            </a:r>
            <a:endParaRPr lang="en-US" sz="2700" dirty="0"/>
          </a:p>
        </p:txBody>
      </p:sp>
      <p:sp>
        <p:nvSpPr>
          <p:cNvPr id="19" name="Text 16"/>
          <p:cNvSpPr/>
          <p:nvPr/>
        </p:nvSpPr>
        <p:spPr>
          <a:xfrm>
            <a:off x="9710928" y="3044952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Trace top-1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7635240" y="3685032"/>
            <a:ext cx="3675888" cy="1097280"/>
          </a:xfrm>
          <a:prstGeom prst="roundRect">
            <a:avLst>
              <a:gd name="adj" fmla="val 4167"/>
            </a:avLst>
          </a:prstGeom>
          <a:solidFill>
            <a:srgbClr val="EAF2FF"/>
          </a:solidFill>
          <a:ln w="10160">
            <a:solidFill>
              <a:srgbClr val="003B95"/>
            </a:solidFill>
          </a:ln>
        </p:spPr>
        <p:txBody>
          <a:bodyPr wrap="square" lIns="1778" tIns="1778" rIns="1778" bIns="177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Trace compares weight magnitude through layers, averaging seven role-wise correlations. Its first-choice gain is sensitive to tied candidates; the full and tie-excluded subsets answer different questions.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7635240" y="5010912"/>
            <a:ext cx="3675888" cy="914400"/>
          </a:xfrm>
          <a:prstGeom prst="roundRect">
            <a:avLst>
              <a:gd name="adj" fmla="val 5000"/>
            </a:avLst>
          </a:prstGeom>
          <a:solidFill>
            <a:srgbClr val="FEE4E2"/>
          </a:solidFill>
          <a:ln w="10160">
            <a:solidFill>
              <a:srgbClr val="B42318"/>
            </a:solidFill>
          </a:ln>
        </p:spPr>
        <p:txBody>
          <a:bodyPr wrap="square" lIns="1778" tIns="1778" rIns="1778" bIns="1778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B42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757 other labeled queries have a root absent from the supplied list; 278 have a listed root without usable measurements. These are queries, not additional candidate bases.</a:t>
            </a:r>
            <a:endParaRPr lang="en-US" sz="980" dirty="0"/>
          </a:p>
        </p:txBody>
      </p:sp>
      <p:sp>
        <p:nvSpPr>
          <p:cNvPr id="22" name="Text 19"/>
          <p:cNvSpPr/>
          <p:nvPr/>
        </p:nvSpPr>
        <p:spPr>
          <a:xfrm>
            <a:off x="603504" y="5925312"/>
            <a:ext cx="6620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" b="1" dirty="0">
                <a:solidFill>
                  <a:srgbClr val="B42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After excluding exact ties in either method: rank 85.88%, Trace 84.73%. This changes the model/root mix; equal-weight-per-root accuracy still favors Trace.</a:t>
            </a:r>
            <a:endParaRPr lang="en-US" sz="9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715000" cy="50292"/>
          </a:xfrm>
          <a:prstGeom prst="rect">
            <a:avLst/>
          </a:prstGeom>
          <a:solidFill>
            <a:srgbClr val="00267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715000" y="0"/>
            <a:ext cx="3337560" cy="50292"/>
          </a:xfrm>
          <a:prstGeom prst="rect">
            <a:avLst/>
          </a:prstGeom>
          <a:solidFill>
            <a:srgbClr val="00693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052560" y="0"/>
            <a:ext cx="3139135" cy="50292"/>
          </a:xfrm>
          <a:prstGeom prst="rect">
            <a:avLst/>
          </a:prstGeom>
          <a:solidFill>
            <a:srgbClr val="FDB51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20116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FDB5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 COMPARISON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30352" y="448056"/>
            <a:ext cx="11109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Our larger study is not an exact replication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530352" y="969264"/>
            <a:ext cx="11109960" cy="0"/>
          </a:xfrm>
          <a:prstGeom prst="line">
            <a:avLst/>
          </a:prstGeom>
          <a:noFill/>
          <a:ln w="10160">
            <a:solidFill>
              <a:srgbClr val="D9E2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352" y="6556248"/>
            <a:ext cx="11109960" cy="0"/>
          </a:xfrm>
          <a:prstGeom prst="line">
            <a:avLst/>
          </a:prstGeom>
          <a:noFill/>
          <a:ln w="8890">
            <a:solidFill>
              <a:srgbClr val="D9E2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6620256"/>
            <a:ext cx="99669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Sources: arxiv.org/html/2607.03377v1, Sec. 4.2 and 5.3; reassessment_0063666fd5733b453c38/protocol.json</a:t>
            </a:r>
            <a:endParaRPr lang="en-US" sz="660" dirty="0"/>
          </a:p>
        </p:txBody>
      </p:sp>
      <p:sp>
        <p:nvSpPr>
          <p:cNvPr id="10" name="Text 8"/>
          <p:cNvSpPr/>
          <p:nvPr/>
        </p:nvSpPr>
        <p:spPr>
          <a:xfrm>
            <a:off x="11045952" y="6601968"/>
            <a:ext cx="5852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DB5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66928" y="1216152"/>
            <a:ext cx="2450592" cy="420624"/>
          </a:xfrm>
          <a:prstGeom prst="rect">
            <a:avLst/>
          </a:prstGeom>
          <a:solidFill>
            <a:srgbClr val="002676"/>
          </a:solidFill>
          <a:ln w="8890">
            <a:solidFill>
              <a:srgbClr val="D9E2EC"/>
            </a:solidFill>
          </a:ln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Dimension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017520" y="1216152"/>
            <a:ext cx="4096512" cy="420624"/>
          </a:xfrm>
          <a:prstGeom prst="rect">
            <a:avLst/>
          </a:prstGeom>
          <a:solidFill>
            <a:srgbClr val="002676"/>
          </a:solidFill>
          <a:ln w="8890">
            <a:solidFill>
              <a:srgbClr val="D9E2EC"/>
            </a:solidFill>
          </a:ln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Spectral Signatures paper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114032" y="1216152"/>
            <a:ext cx="4498848" cy="420624"/>
          </a:xfrm>
          <a:prstGeom prst="rect">
            <a:avLst/>
          </a:prstGeom>
          <a:solidFill>
            <a:srgbClr val="002676"/>
          </a:solidFill>
          <a:ln w="8890">
            <a:solidFill>
              <a:srgbClr val="D9E2EC"/>
            </a:solidFill>
          </a:ln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Exploratory reassessment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66928" y="1636776"/>
            <a:ext cx="2450592" cy="603504"/>
          </a:xfrm>
          <a:prstGeom prst="rect">
            <a:avLst/>
          </a:prstGeom>
          <a:solidFill>
            <a:srgbClr val="F7F9FC"/>
          </a:solidFill>
          <a:ln w="8890">
            <a:solidFill>
              <a:srgbClr val="D9E2EC"/>
            </a:solidFill>
          </a:ln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Prediction boundary</a:t>
            </a:r>
            <a:endParaRPr lang="en-US" sz="1020" dirty="0"/>
          </a:p>
        </p:txBody>
      </p:sp>
      <p:sp>
        <p:nvSpPr>
          <p:cNvPr id="15" name="Text 13"/>
          <p:cNvSpPr/>
          <p:nvPr/>
        </p:nvSpPr>
        <p:spPr>
          <a:xfrm>
            <a:off x="3017520" y="1636776"/>
            <a:ext cx="4096512" cy="603504"/>
          </a:xfrm>
          <a:prstGeom prst="rect">
            <a:avLst/>
          </a:prstGeom>
          <a:solidFill>
            <a:srgbClr val="FFFFFF"/>
          </a:solidFill>
          <a:ln w="8890">
            <a:solidFill>
              <a:srgbClr val="D9E2EC"/>
            </a:solidFill>
          </a:ln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Weight similarities; training scores for prediction</a:t>
            </a:r>
            <a:endParaRPr lang="en-US" sz="1020" dirty="0"/>
          </a:p>
        </p:txBody>
      </p:sp>
      <p:sp>
        <p:nvSpPr>
          <p:cNvPr id="16" name="Text 14"/>
          <p:cNvSpPr/>
          <p:nvPr/>
        </p:nvSpPr>
        <p:spPr>
          <a:xfrm>
            <a:off x="7114032" y="1636776"/>
            <a:ext cx="4498848" cy="603504"/>
          </a:xfrm>
          <a:prstGeom prst="rect">
            <a:avLst/>
          </a:prstGeom>
          <a:solidFill>
            <a:srgbClr val="FFFFFF"/>
          </a:solidFill>
          <a:ln w="8890">
            <a:solidFill>
              <a:srgbClr val="D9E2EC"/>
            </a:solidFill>
          </a:ln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Weight features; training-only score fitting</a:t>
            </a:r>
            <a:endParaRPr lang="en-US" sz="1020" dirty="0"/>
          </a:p>
        </p:txBody>
      </p:sp>
      <p:sp>
        <p:nvSpPr>
          <p:cNvPr id="17" name="Text 15"/>
          <p:cNvSpPr/>
          <p:nvPr/>
        </p:nvSpPr>
        <p:spPr>
          <a:xfrm>
            <a:off x="566928" y="2240280"/>
            <a:ext cx="2450592" cy="603504"/>
          </a:xfrm>
          <a:prstGeom prst="rect">
            <a:avLst/>
          </a:prstGeom>
          <a:solidFill>
            <a:srgbClr val="F7F9FC"/>
          </a:solidFill>
          <a:ln w="8890">
            <a:solidFill>
              <a:srgbClr val="D9E2EC"/>
            </a:solidFill>
          </a:ln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Alpha estimator</a:t>
            </a:r>
            <a:endParaRPr lang="en-US" sz="1020" dirty="0"/>
          </a:p>
        </p:txBody>
      </p:sp>
      <p:sp>
        <p:nvSpPr>
          <p:cNvPr id="18" name="Text 16"/>
          <p:cNvSpPr/>
          <p:nvPr/>
        </p:nvSpPr>
        <p:spPr>
          <a:xfrm>
            <a:off x="3017520" y="2240280"/>
            <a:ext cx="4096512" cy="603504"/>
          </a:xfrm>
          <a:prstGeom prst="rect">
            <a:avLst/>
          </a:prstGeom>
          <a:solidFill>
            <a:srgbClr val="FFFFFF"/>
          </a:solidFill>
          <a:ln w="8890">
            <a:solidFill>
              <a:srgbClr val="D9E2EC"/>
            </a:solidFill>
          </a:ln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Fixed-tail Hill, k = n/2</a:t>
            </a:r>
            <a:endParaRPr lang="en-US" sz="1020" dirty="0"/>
          </a:p>
        </p:txBody>
      </p:sp>
      <p:sp>
        <p:nvSpPr>
          <p:cNvPr id="19" name="Text 17"/>
          <p:cNvSpPr/>
          <p:nvPr/>
        </p:nvSpPr>
        <p:spPr>
          <a:xfrm>
            <a:off x="7114032" y="2240280"/>
            <a:ext cx="4498848" cy="603504"/>
          </a:xfrm>
          <a:prstGeom prst="rect">
            <a:avLst/>
          </a:prstGeom>
          <a:solidFill>
            <a:srgbClr val="FFFFFF"/>
          </a:solidFill>
          <a:ln w="8890">
            <a:solidFill>
              <a:srgbClr val="D9E2EC"/>
            </a:solidFill>
          </a:ln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 stored DKS; not WeightWatcher or fixed Hill</a:t>
            </a:r>
            <a:endParaRPr lang="en-US" sz="1020" dirty="0"/>
          </a:p>
        </p:txBody>
      </p:sp>
      <p:sp>
        <p:nvSpPr>
          <p:cNvPr id="20" name="Text 18"/>
          <p:cNvSpPr/>
          <p:nvPr/>
        </p:nvSpPr>
        <p:spPr>
          <a:xfrm>
            <a:off x="566928" y="2843784"/>
            <a:ext cx="2450592" cy="603504"/>
          </a:xfrm>
          <a:prstGeom prst="rect">
            <a:avLst/>
          </a:prstGeom>
          <a:solidFill>
            <a:srgbClr val="F7F9FC"/>
          </a:solidFill>
          <a:ln w="8890">
            <a:solidFill>
              <a:srgbClr val="D9E2EC"/>
            </a:solidFill>
          </a:ln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Grouping / similarity</a:t>
            </a:r>
            <a:endParaRPr lang="en-US" sz="1020" dirty="0"/>
          </a:p>
        </p:txBody>
      </p:sp>
      <p:sp>
        <p:nvSpPr>
          <p:cNvPr id="21" name="Text 19"/>
          <p:cNvSpPr/>
          <p:nvPr/>
        </p:nvSpPr>
        <p:spPr>
          <a:xfrm>
            <a:off x="3017520" y="2843784"/>
            <a:ext cx="4096512" cy="603504"/>
          </a:xfrm>
          <a:prstGeom prst="rect">
            <a:avLst/>
          </a:prstGeom>
          <a:solidFill>
            <a:srgbClr val="FFFFFF"/>
          </a:solidFill>
          <a:ln w="8890">
            <a:solidFill>
              <a:srgbClr val="D9E2EC"/>
            </a:solidFill>
          </a:ln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Flattened raw alpha / role-wise Spearman</a:t>
            </a:r>
            <a:endParaRPr lang="en-US" sz="1020" dirty="0"/>
          </a:p>
        </p:txBody>
      </p:sp>
      <p:sp>
        <p:nvSpPr>
          <p:cNvPr id="22" name="Text 20"/>
          <p:cNvSpPr/>
          <p:nvPr/>
        </p:nvSpPr>
        <p:spPr>
          <a:xfrm>
            <a:off x="7114032" y="2843784"/>
            <a:ext cx="4498848" cy="603504"/>
          </a:xfrm>
          <a:prstGeom prst="rect">
            <a:avLst/>
          </a:prstGeom>
          <a:solidFill>
            <a:srgbClr val="FFFFFF"/>
          </a:solidFill>
          <a:ln w="8890">
            <a:solidFill>
              <a:srgbClr val="D9E2EC"/>
            </a:solidFill>
          </a:ln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Rank grouping retained; separate Trace base test</a:t>
            </a:r>
            <a:endParaRPr lang="en-US" sz="1020" dirty="0"/>
          </a:p>
        </p:txBody>
      </p:sp>
      <p:sp>
        <p:nvSpPr>
          <p:cNvPr id="23" name="Text 21"/>
          <p:cNvSpPr/>
          <p:nvPr/>
        </p:nvSpPr>
        <p:spPr>
          <a:xfrm>
            <a:off x="566928" y="3447288"/>
            <a:ext cx="2450592" cy="603504"/>
          </a:xfrm>
          <a:prstGeom prst="rect">
            <a:avLst/>
          </a:prstGeom>
          <a:solidFill>
            <a:srgbClr val="F7F9FC"/>
          </a:solidFill>
          <a:ln w="8890">
            <a:solidFill>
              <a:srgbClr val="D9E2EC"/>
            </a:solidFill>
          </a:ln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Unequal depth</a:t>
            </a:r>
            <a:endParaRPr lang="en-US" sz="1020" dirty="0"/>
          </a:p>
        </p:txBody>
      </p:sp>
      <p:sp>
        <p:nvSpPr>
          <p:cNvPr id="24" name="Text 22"/>
          <p:cNvSpPr/>
          <p:nvPr/>
        </p:nvSpPr>
        <p:spPr>
          <a:xfrm>
            <a:off x="3017520" y="3447288"/>
            <a:ext cx="4096512" cy="603504"/>
          </a:xfrm>
          <a:prstGeom prst="rect">
            <a:avLst/>
          </a:prstGeom>
          <a:solidFill>
            <a:srgbClr val="FFFFFF"/>
          </a:solidFill>
          <a:ln w="8890">
            <a:solidFill>
              <a:srgbClr val="D9E2EC"/>
            </a:solidFill>
          </a:ln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Z-score + order-preserving matching</a:t>
            </a:r>
            <a:endParaRPr lang="en-US" sz="1020" dirty="0"/>
          </a:p>
        </p:txBody>
      </p:sp>
      <p:sp>
        <p:nvSpPr>
          <p:cNvPr id="25" name="Text 23"/>
          <p:cNvSpPr/>
          <p:nvPr/>
        </p:nvSpPr>
        <p:spPr>
          <a:xfrm>
            <a:off x="7114032" y="3447288"/>
            <a:ext cx="4498848" cy="603504"/>
          </a:xfrm>
          <a:prstGeom prst="rect">
            <a:avLst/>
          </a:prstGeom>
          <a:solidFill>
            <a:srgbClr val="FFFFFF"/>
          </a:solidFill>
          <a:ln w="8890">
            <a:solidFill>
              <a:srgbClr val="D9E2EC"/>
            </a:solidFill>
          </a:ln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Ranks: 32-point interpolation; Trace: pair-max depth</a:t>
            </a:r>
            <a:endParaRPr lang="en-US" sz="1020" dirty="0"/>
          </a:p>
        </p:txBody>
      </p:sp>
      <p:sp>
        <p:nvSpPr>
          <p:cNvPr id="26" name="Text 24"/>
          <p:cNvSpPr/>
          <p:nvPr/>
        </p:nvSpPr>
        <p:spPr>
          <a:xfrm>
            <a:off x="566928" y="4050792"/>
            <a:ext cx="2450592" cy="603504"/>
          </a:xfrm>
          <a:prstGeom prst="rect">
            <a:avLst/>
          </a:prstGeom>
          <a:solidFill>
            <a:srgbClr val="F7F9FC"/>
          </a:solidFill>
          <a:ln w="8890">
            <a:solidFill>
              <a:srgbClr val="D9E2EC"/>
            </a:solidFill>
          </a:ln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Performance setup</a:t>
            </a:r>
            <a:endParaRPr lang="en-US" sz="1020" dirty="0"/>
          </a:p>
        </p:txBody>
      </p:sp>
      <p:sp>
        <p:nvSpPr>
          <p:cNvPr id="27" name="Text 25"/>
          <p:cNvSpPr/>
          <p:nvPr/>
        </p:nvSpPr>
        <p:spPr>
          <a:xfrm>
            <a:off x="3017520" y="4050792"/>
            <a:ext cx="4096512" cy="603504"/>
          </a:xfrm>
          <a:prstGeom prst="rect">
            <a:avLst/>
          </a:prstGeom>
          <a:solidFill>
            <a:srgbClr val="FFFFFF"/>
          </a:solidFill>
          <a:ln w="8890">
            <a:solidFill>
              <a:srgbClr val="D9E2EC"/>
            </a:solidFill>
          </a:ln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Five folds stated; 100 half-splits in results</a:t>
            </a:r>
            <a:endParaRPr lang="en-US" sz="1020" dirty="0"/>
          </a:p>
        </p:txBody>
      </p:sp>
      <p:sp>
        <p:nvSpPr>
          <p:cNvPr id="28" name="Text 26"/>
          <p:cNvSpPr/>
          <p:nvPr/>
        </p:nvSpPr>
        <p:spPr>
          <a:xfrm>
            <a:off x="7114032" y="4050792"/>
            <a:ext cx="4498848" cy="603504"/>
          </a:xfrm>
          <a:prstGeom prst="rect">
            <a:avLst/>
          </a:prstGeom>
          <a:solidFill>
            <a:srgbClr val="FFFFFF"/>
          </a:solidFill>
          <a:ln w="8890">
            <a:solidFill>
              <a:srgbClr val="D9E2EC"/>
            </a:solidFill>
          </a:ln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Five fixed near-group parts; explicit stress splits</a:t>
            </a:r>
            <a:endParaRPr lang="en-US" sz="1020" dirty="0"/>
          </a:p>
        </p:txBody>
      </p:sp>
      <p:sp>
        <p:nvSpPr>
          <p:cNvPr id="29" name="Text 27"/>
          <p:cNvSpPr/>
          <p:nvPr/>
        </p:nvSpPr>
        <p:spPr>
          <a:xfrm>
            <a:off x="566928" y="4654296"/>
            <a:ext cx="2450592" cy="603504"/>
          </a:xfrm>
          <a:prstGeom prst="rect">
            <a:avLst/>
          </a:prstGeom>
          <a:solidFill>
            <a:srgbClr val="F7F9FC"/>
          </a:solidFill>
          <a:ln w="8890">
            <a:solidFill>
              <a:srgbClr val="D9E2EC"/>
            </a:solidFill>
          </a:ln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Scope of comparison</a:t>
            </a:r>
            <a:endParaRPr lang="en-US" sz="1020" dirty="0"/>
          </a:p>
        </p:txBody>
      </p:sp>
      <p:sp>
        <p:nvSpPr>
          <p:cNvPr id="30" name="Text 28"/>
          <p:cNvSpPr/>
          <p:nvPr/>
        </p:nvSpPr>
        <p:spPr>
          <a:xfrm>
            <a:off x="3017520" y="4654296"/>
            <a:ext cx="4096512" cy="603504"/>
          </a:xfrm>
          <a:prstGeom prst="rect">
            <a:avLst/>
          </a:prstGeom>
          <a:solidFill>
            <a:srgbClr val="FFFFFF"/>
          </a:solidFill>
          <a:ln w="8890">
            <a:solidFill>
              <a:srgbClr val="D9E2EC"/>
            </a:solidFill>
          </a:ln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Different candidates, cohorts and targets</a:t>
            </a:r>
            <a:endParaRPr lang="en-US" sz="1020" dirty="0"/>
          </a:p>
        </p:txBody>
      </p:sp>
      <p:sp>
        <p:nvSpPr>
          <p:cNvPr id="31" name="Text 29"/>
          <p:cNvSpPr/>
          <p:nvPr/>
        </p:nvSpPr>
        <p:spPr>
          <a:xfrm>
            <a:off x="7114032" y="4654296"/>
            <a:ext cx="4498848" cy="603504"/>
          </a:xfrm>
          <a:prstGeom prst="rect">
            <a:avLst/>
          </a:prstGeom>
          <a:solidFill>
            <a:srgbClr val="FFFFFF"/>
          </a:solidFill>
          <a:ln w="8890">
            <a:solidFill>
              <a:srgbClr val="D9E2EC"/>
            </a:solidFill>
          </a:ln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matched replication; no claim to beat the paper</a:t>
            </a:r>
            <a:endParaRPr lang="en-US" sz="1020" dirty="0"/>
          </a:p>
        </p:txBody>
      </p:sp>
      <p:sp>
        <p:nvSpPr>
          <p:cNvPr id="32" name="Text 30"/>
          <p:cNvSpPr/>
          <p:nvPr/>
        </p:nvSpPr>
        <p:spPr>
          <a:xfrm>
            <a:off x="621792" y="5806440"/>
            <a:ext cx="10954512" cy="530352"/>
          </a:xfrm>
          <a:prstGeom prst="roundRect">
            <a:avLst>
              <a:gd name="adj" fmla="val 8621"/>
            </a:avLst>
          </a:prstGeom>
          <a:solidFill>
            <a:srgbClr val="FFF4C7"/>
          </a:solidFill>
          <a:ln w="10160">
            <a:solidFill>
              <a:srgbClr val="FDB515"/>
            </a:solidFill>
          </a:ln>
        </p:spPr>
        <p:txBody>
          <a:bodyPr wrap="square" lIns="1778" tIns="1778" rIns="1778" bIns="177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paper's split-description discrepancy is unresolved. Neither its accuracy nor our MAE establishes superiority across different populations and protocols.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715000" cy="50292"/>
          </a:xfrm>
          <a:prstGeom prst="rect">
            <a:avLst/>
          </a:prstGeom>
          <a:solidFill>
            <a:srgbClr val="00267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715000" y="0"/>
            <a:ext cx="3337560" cy="50292"/>
          </a:xfrm>
          <a:prstGeom prst="rect">
            <a:avLst/>
          </a:prstGeom>
          <a:solidFill>
            <a:srgbClr val="00693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052560" y="0"/>
            <a:ext cx="3139135" cy="50292"/>
          </a:xfrm>
          <a:prstGeom prst="rect">
            <a:avLst/>
          </a:prstGeom>
          <a:solidFill>
            <a:srgbClr val="FDB51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20116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03B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PERFORMANCE METHOD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30352" y="448056"/>
            <a:ext cx="11109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Keep similar models together in five test parts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530352" y="969264"/>
            <a:ext cx="11109960" cy="0"/>
          </a:xfrm>
          <a:prstGeom prst="line">
            <a:avLst/>
          </a:prstGeom>
          <a:noFill/>
          <a:ln w="10160">
            <a:solidFill>
              <a:srgbClr val="D9E2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352" y="6556248"/>
            <a:ext cx="11109960" cy="0"/>
          </a:xfrm>
          <a:prstGeom prst="line">
            <a:avLst/>
          </a:prstGeom>
          <a:noFill/>
          <a:ln w="8890">
            <a:solidFill>
              <a:srgbClr val="D9E2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6620256"/>
            <a:ext cx="99669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Sources: reassessment_0063666fd5733b453c38/protocol.json, splits.csv and performance_predictions.csv</a:t>
            </a:r>
            <a:endParaRPr lang="en-US" sz="660" dirty="0"/>
          </a:p>
        </p:txBody>
      </p:sp>
      <p:sp>
        <p:nvSpPr>
          <p:cNvPr id="10" name="Text 8"/>
          <p:cNvSpPr/>
          <p:nvPr/>
        </p:nvSpPr>
        <p:spPr>
          <a:xfrm>
            <a:off x="11045952" y="6601968"/>
            <a:ext cx="5852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03B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58368" y="122529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03B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FIVE TEST PARTS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94944" y="1627632"/>
            <a:ext cx="2880360" cy="749808"/>
          </a:xfrm>
          <a:prstGeom prst="roundRect">
            <a:avLst>
              <a:gd name="adj" fmla="val 6098"/>
            </a:avLst>
          </a:prstGeom>
          <a:solidFill>
            <a:srgbClr val="EAF2FF"/>
          </a:solidFill>
          <a:ln w="10160">
            <a:solidFill>
              <a:srgbClr val="003B95"/>
            </a:solidFill>
          </a:ln>
        </p:spPr>
        <p:txBody>
          <a:bodyPr wrap="square" lIns="1778" tIns="1778" rIns="1778" bIns="1778" rtlCol="0" anchor="ctr"/>
          <a:lstStyle/>
          <a:p>
            <a:pPr algn="ctr" indent="0" marL="0">
              <a:buNone/>
            </a:pPr>
            <a:r>
              <a:rPr lang="en-US" sz="116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 near profiles</a:t>
            </a:r>
            <a:endParaRPr lang="en-US" sz="1160" dirty="0"/>
          </a:p>
          <a:p>
            <a:pPr algn="ctr" indent="0" marL="0">
              <a:buNone/>
            </a:pPr>
            <a:r>
              <a:rPr lang="en-US" sz="116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similarity &gt;= 0.995</a:t>
            </a:r>
            <a:endParaRPr lang="en-US" sz="1160" dirty="0"/>
          </a:p>
        </p:txBody>
      </p:sp>
      <p:sp>
        <p:nvSpPr>
          <p:cNvPr id="13" name="Shape 11"/>
          <p:cNvSpPr/>
          <p:nvPr/>
        </p:nvSpPr>
        <p:spPr>
          <a:xfrm>
            <a:off x="3712464" y="2002536"/>
            <a:ext cx="475488" cy="0"/>
          </a:xfrm>
          <a:prstGeom prst="line">
            <a:avLst/>
          </a:prstGeom>
          <a:noFill/>
          <a:ln w="19050">
            <a:solidFill>
              <a:srgbClr val="003B95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4471416" y="1627632"/>
            <a:ext cx="2880360" cy="749808"/>
          </a:xfrm>
          <a:prstGeom prst="roundRect">
            <a:avLst>
              <a:gd name="adj" fmla="val 6098"/>
            </a:avLst>
          </a:prstGeom>
          <a:solidFill>
            <a:srgbClr val="F7F9FC"/>
          </a:solidFill>
          <a:ln w="10160">
            <a:solidFill>
              <a:srgbClr val="667085"/>
            </a:solidFill>
          </a:ln>
        </p:spPr>
        <p:txBody>
          <a:bodyPr wrap="square" lIns="1778" tIns="1778" rIns="1778" bIns="1778" rtlCol="0" anchor="ctr"/>
          <a:lstStyle/>
          <a:p>
            <a:pPr algn="ctr" indent="0" marL="0">
              <a:buNone/>
            </a:pPr>
            <a:r>
              <a:rPr lang="en-US" sz="116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each group intact</a:t>
            </a:r>
            <a:endParaRPr lang="en-US" sz="1160" dirty="0"/>
          </a:p>
          <a:p>
            <a:pPr algn="ctr" indent="0" marL="0">
              <a:buNone/>
            </a:pPr>
            <a:r>
              <a:rPr lang="en-US" sz="116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five fixed parts</a:t>
            </a:r>
            <a:endParaRPr lang="en-US" sz="1160" dirty="0"/>
          </a:p>
        </p:txBody>
      </p:sp>
      <p:sp>
        <p:nvSpPr>
          <p:cNvPr id="15" name="Shape 13"/>
          <p:cNvSpPr/>
          <p:nvPr/>
        </p:nvSpPr>
        <p:spPr>
          <a:xfrm>
            <a:off x="7488936" y="2002536"/>
            <a:ext cx="475488" cy="0"/>
          </a:xfrm>
          <a:prstGeom prst="line">
            <a:avLst/>
          </a:prstGeom>
          <a:noFill/>
          <a:ln w="19050">
            <a:solidFill>
              <a:srgbClr val="667085"/>
            </a:solidFill>
            <a:prstDash val="solid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8247888" y="1627632"/>
            <a:ext cx="2880360" cy="749808"/>
          </a:xfrm>
          <a:prstGeom prst="roundRect">
            <a:avLst>
              <a:gd name="adj" fmla="val 6098"/>
            </a:avLst>
          </a:prstGeom>
          <a:solidFill>
            <a:srgbClr val="E4F3EA"/>
          </a:solidFill>
          <a:ln w="10160">
            <a:solidFill>
              <a:srgbClr val="00693E"/>
            </a:solidFill>
          </a:ln>
        </p:spPr>
        <p:txBody>
          <a:bodyPr wrap="square" lIns="1778" tIns="1778" rIns="1778" bIns="1778" rtlCol="0" anchor="ctr"/>
          <a:lstStyle/>
          <a:p>
            <a:pPr algn="ctr" indent="0" marL="0">
              <a:buNone/>
            </a:pPr>
            <a:r>
              <a:rPr lang="en-US" sz="116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Freeze the same splits</a:t>
            </a:r>
            <a:endParaRPr lang="en-US" sz="1160" dirty="0"/>
          </a:p>
          <a:p>
            <a:pPr algn="ctr" indent="0" marL="0">
              <a:buNone/>
            </a:pPr>
            <a:r>
              <a:rPr lang="en-US" sz="116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predictor contrasts</a:t>
            </a:r>
            <a:endParaRPr lang="en-US" sz="1160" dirty="0"/>
          </a:p>
        </p:txBody>
      </p:sp>
      <p:sp>
        <p:nvSpPr>
          <p:cNvPr id="17" name="Text 15"/>
          <p:cNvSpPr/>
          <p:nvPr/>
        </p:nvSpPr>
        <p:spPr>
          <a:xfrm>
            <a:off x="658368" y="297180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069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REPEAT FIVE TIMES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58368" y="3383280"/>
            <a:ext cx="1847088" cy="786384"/>
          </a:xfrm>
          <a:prstGeom prst="roundRect">
            <a:avLst>
              <a:gd name="adj" fmla="val 5814"/>
            </a:avLst>
          </a:prstGeom>
          <a:solidFill>
            <a:srgbClr val="FFF4C7"/>
          </a:solidFill>
          <a:ln w="10160">
            <a:solidFill>
              <a:srgbClr val="9A6A00"/>
            </a:solidFill>
          </a:ln>
        </p:spPr>
        <p:txBody>
          <a:bodyPr wrap="square" lIns="1778" tIns="1778" rIns="1778" bIns="1778" rtlCol="0" anchor="ctr"/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Hold out</a:t>
            </a:r>
            <a:endParaRPr lang="en-US" sz="1060" dirty="0"/>
          </a:p>
          <a:p>
            <a:pPr algn="ctr" indent="0" marL="0">
              <a:buNone/>
            </a:pPr>
            <a:r>
              <a:rPr lang="en-US" sz="106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part</a:t>
            </a:r>
            <a:endParaRPr lang="en-US" sz="1060" dirty="0"/>
          </a:p>
        </p:txBody>
      </p:sp>
      <p:sp>
        <p:nvSpPr>
          <p:cNvPr id="19" name="Shape 17"/>
          <p:cNvSpPr/>
          <p:nvPr/>
        </p:nvSpPr>
        <p:spPr>
          <a:xfrm>
            <a:off x="2596896" y="3776472"/>
            <a:ext cx="246888" cy="0"/>
          </a:xfrm>
          <a:prstGeom prst="line">
            <a:avLst/>
          </a:prstGeom>
          <a:noFill/>
          <a:ln w="19050">
            <a:solidFill>
              <a:srgbClr val="9A6A00"/>
            </a:solidFill>
            <a:prstDash val="solid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2944368" y="3383280"/>
            <a:ext cx="1847088" cy="786384"/>
          </a:xfrm>
          <a:prstGeom prst="roundRect">
            <a:avLst>
              <a:gd name="adj" fmla="val 5814"/>
            </a:avLst>
          </a:prstGeom>
          <a:solidFill>
            <a:srgbClr val="E4F3EA"/>
          </a:solidFill>
          <a:ln w="10160">
            <a:solidFill>
              <a:srgbClr val="00693E"/>
            </a:solidFill>
          </a:ln>
        </p:spPr>
        <p:txBody>
          <a:bodyPr wrap="square" lIns="1778" tIns="1778" rIns="1778" bIns="1778" rtlCol="0" anchor="ctr"/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 other</a:t>
            </a:r>
            <a:endParaRPr lang="en-US" sz="1060" dirty="0"/>
          </a:p>
          <a:p>
            <a:pPr algn="ctr" indent="0" marL="0">
              <a:buNone/>
            </a:pPr>
            <a:r>
              <a:rPr lang="en-US" sz="106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parts</a:t>
            </a:r>
            <a:endParaRPr lang="en-US" sz="1060" dirty="0"/>
          </a:p>
        </p:txBody>
      </p:sp>
      <p:sp>
        <p:nvSpPr>
          <p:cNvPr id="21" name="Shape 19"/>
          <p:cNvSpPr/>
          <p:nvPr/>
        </p:nvSpPr>
        <p:spPr>
          <a:xfrm>
            <a:off x="4882896" y="3776472"/>
            <a:ext cx="246888" cy="0"/>
          </a:xfrm>
          <a:prstGeom prst="line">
            <a:avLst/>
          </a:prstGeom>
          <a:noFill/>
          <a:ln w="19050">
            <a:solidFill>
              <a:srgbClr val="00693E"/>
            </a:solidFill>
            <a:prstDash val="solid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5230368" y="3383280"/>
            <a:ext cx="1847088" cy="786384"/>
          </a:xfrm>
          <a:prstGeom prst="roundRect">
            <a:avLst>
              <a:gd name="adj" fmla="val 5814"/>
            </a:avLst>
          </a:prstGeom>
          <a:solidFill>
            <a:srgbClr val="EAF2FF"/>
          </a:solidFill>
          <a:ln w="10160">
            <a:solidFill>
              <a:srgbClr val="003B95"/>
            </a:solidFill>
          </a:ln>
        </p:spPr>
        <p:txBody>
          <a:bodyPr wrap="square" lIns="1778" tIns="1778" rIns="1778" bIns="1778" rtlCol="0" anchor="ctr"/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Fit preprocessing</a:t>
            </a:r>
            <a:endParaRPr lang="en-US" sz="1060" dirty="0"/>
          </a:p>
          <a:p>
            <a:pPr algn="ctr" indent="0" marL="0">
              <a:buNone/>
            </a:pPr>
            <a:r>
              <a:rPr lang="en-US" sz="106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 training rows only</a:t>
            </a:r>
            <a:endParaRPr lang="en-US" sz="1060" dirty="0"/>
          </a:p>
        </p:txBody>
      </p:sp>
      <p:sp>
        <p:nvSpPr>
          <p:cNvPr id="23" name="Shape 21"/>
          <p:cNvSpPr/>
          <p:nvPr/>
        </p:nvSpPr>
        <p:spPr>
          <a:xfrm>
            <a:off x="7168896" y="3776472"/>
            <a:ext cx="246888" cy="0"/>
          </a:xfrm>
          <a:prstGeom prst="line">
            <a:avLst/>
          </a:prstGeom>
          <a:noFill/>
          <a:ln w="19050">
            <a:solidFill>
              <a:srgbClr val="003B95"/>
            </a:solidFill>
            <a:prstDash val="solid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7516368" y="3383280"/>
            <a:ext cx="1847088" cy="786384"/>
          </a:xfrm>
          <a:prstGeom prst="roundRect">
            <a:avLst>
              <a:gd name="adj" fmla="val 5814"/>
            </a:avLst>
          </a:prstGeom>
          <a:solidFill>
            <a:srgbClr val="F7F9FC"/>
          </a:solidFill>
          <a:ln w="10160">
            <a:solidFill>
              <a:srgbClr val="667085"/>
            </a:solidFill>
          </a:ln>
        </p:spPr>
        <p:txBody>
          <a:bodyPr wrap="square" lIns="1778" tIns="1778" rIns="1778" bIns="1778" rtlCol="0" anchor="ctr"/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Fit fixed trees / ridge</a:t>
            </a:r>
            <a:endParaRPr lang="en-US" sz="1060" dirty="0"/>
          </a:p>
          <a:p>
            <a:pPr algn="ctr" indent="0" marL="0">
              <a:buNone/>
            </a:pPr>
            <a:r>
              <a:rPr lang="en-US" sz="106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 rank 3-neighbor model</a:t>
            </a:r>
            <a:endParaRPr lang="en-US" sz="1060" dirty="0"/>
          </a:p>
        </p:txBody>
      </p:sp>
      <p:sp>
        <p:nvSpPr>
          <p:cNvPr id="25" name="Shape 23"/>
          <p:cNvSpPr/>
          <p:nvPr/>
        </p:nvSpPr>
        <p:spPr>
          <a:xfrm>
            <a:off x="9454896" y="3776472"/>
            <a:ext cx="246888" cy="0"/>
          </a:xfrm>
          <a:prstGeom prst="line">
            <a:avLst/>
          </a:prstGeom>
          <a:noFill/>
          <a:ln w="19050">
            <a:solidFill>
              <a:srgbClr val="667085"/>
            </a:solidFill>
            <a:prstDash val="solid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9802368" y="3383280"/>
            <a:ext cx="1847088" cy="786384"/>
          </a:xfrm>
          <a:prstGeom prst="roundRect">
            <a:avLst>
              <a:gd name="adj" fmla="val 5814"/>
            </a:avLst>
          </a:prstGeom>
          <a:solidFill>
            <a:srgbClr val="FEE4E2"/>
          </a:solidFill>
          <a:ln w="10160">
            <a:solidFill>
              <a:srgbClr val="B42318"/>
            </a:solidFill>
          </a:ln>
        </p:spPr>
        <p:txBody>
          <a:bodyPr wrap="square" lIns="1778" tIns="1778" rIns="1778" bIns="1778" rtlCol="0" anchor="ctr"/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the held-out</a:t>
            </a:r>
            <a:endParaRPr lang="en-US" sz="1060" dirty="0"/>
          </a:p>
          <a:p>
            <a:pPr algn="ctr" indent="0" marL="0">
              <a:buNone/>
            </a:pPr>
            <a:r>
              <a:rPr lang="en-US" sz="106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score and measure error</a:t>
            </a:r>
            <a:endParaRPr lang="en-US" sz="1060" dirty="0"/>
          </a:p>
        </p:txBody>
      </p:sp>
      <p:sp>
        <p:nvSpPr>
          <p:cNvPr id="27" name="Text 25"/>
          <p:cNvSpPr/>
          <p:nvPr/>
        </p:nvSpPr>
        <p:spPr>
          <a:xfrm>
            <a:off x="694944" y="4800600"/>
            <a:ext cx="5257800" cy="768096"/>
          </a:xfrm>
          <a:prstGeom prst="roundRect">
            <a:avLst>
              <a:gd name="adj" fmla="val 5952"/>
            </a:avLst>
          </a:prstGeom>
          <a:solidFill>
            <a:srgbClr val="EAF2FF"/>
          </a:solidFill>
          <a:ln w="10160">
            <a:solidFill>
              <a:srgbClr val="003B95"/>
            </a:solidFill>
          </a:ln>
        </p:spPr>
        <p:txBody>
          <a:bodyPr wrap="square" lIns="1778" tIns="1778" rIns="1778" bIns="1778" rtlCol="0" anchor="ctr"/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Fixed trees: 200 iterations, 15 leaves, rate 0.05, L2=10, minimum leaf=20. Ridge penalty=100; no held-out tuning.</a:t>
            </a:r>
            <a:endParaRPr lang="en-US" sz="1030" dirty="0"/>
          </a:p>
        </p:txBody>
      </p:sp>
      <p:sp>
        <p:nvSpPr>
          <p:cNvPr id="28" name="Text 26"/>
          <p:cNvSpPr/>
          <p:nvPr/>
        </p:nvSpPr>
        <p:spPr>
          <a:xfrm>
            <a:off x="6217920" y="4800600"/>
            <a:ext cx="5257800" cy="768096"/>
          </a:xfrm>
          <a:prstGeom prst="roundRect">
            <a:avLst>
              <a:gd name="adj" fmla="val 5952"/>
            </a:avLst>
          </a:prstGeom>
          <a:solidFill>
            <a:srgbClr val="E4F3EA"/>
          </a:solidFill>
          <a:ln w="10160">
            <a:solidFill>
              <a:srgbClr val="00693E"/>
            </a:solidFill>
          </a:ln>
        </p:spPr>
        <p:txBody>
          <a:bodyPr wrap="square" lIns="1778" tIns="1778" rIns="1778" bIns="1778" rtlCol="0" anchor="ctr"/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Controls: shape, non-alpha spectra, combined spectra, and rank neighbors. Average-score targets and individual tasks are evaluated separately.</a:t>
            </a:r>
            <a:endParaRPr lang="en-US" sz="1030" dirty="0"/>
          </a:p>
        </p:txBody>
      </p:sp>
      <p:sp>
        <p:nvSpPr>
          <p:cNvPr id="29" name="Text 27"/>
          <p:cNvSpPr/>
          <p:nvPr/>
        </p:nvSpPr>
        <p:spPr>
          <a:xfrm>
            <a:off x="658368" y="5843016"/>
            <a:ext cx="108813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2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Training scores are permitted; held-out scores are for evaluation. Collection labels define one stress split. Previously studied data: exploratory, not untouched confirmation.</a:t>
            </a:r>
            <a:endParaRPr lang="en-US" sz="102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715000" cy="50292"/>
          </a:xfrm>
          <a:prstGeom prst="rect">
            <a:avLst/>
          </a:prstGeom>
          <a:solidFill>
            <a:srgbClr val="00267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715000" y="0"/>
            <a:ext cx="3337560" cy="50292"/>
          </a:xfrm>
          <a:prstGeom prst="rect">
            <a:avLst/>
          </a:prstGeom>
          <a:solidFill>
            <a:srgbClr val="00693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052560" y="0"/>
            <a:ext cx="3139135" cy="50292"/>
          </a:xfrm>
          <a:prstGeom prst="rect">
            <a:avLst/>
          </a:prstGeom>
          <a:solidFill>
            <a:srgbClr val="FDB51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20116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03B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PERFORMANCE CONTROLS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30352" y="448056"/>
            <a:ext cx="11109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Alpha does not improve the key performance controls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530352" y="969264"/>
            <a:ext cx="11109960" cy="0"/>
          </a:xfrm>
          <a:prstGeom prst="line">
            <a:avLst/>
          </a:prstGeom>
          <a:noFill/>
          <a:ln w="10160">
            <a:solidFill>
              <a:srgbClr val="D9E2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352" y="6556248"/>
            <a:ext cx="11109960" cy="0"/>
          </a:xfrm>
          <a:prstGeom prst="line">
            <a:avLst/>
          </a:prstGeom>
          <a:noFill/>
          <a:ln w="8890">
            <a:solidFill>
              <a:srgbClr val="D9E2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6620256"/>
            <a:ext cx="99669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Sources: reassessment_0063666fd5733b453c38/performance_metrics.csv and performance_task_metrics.csv; near_group_0995, matched_role_population</a:t>
            </a:r>
            <a:endParaRPr lang="en-US" sz="660" dirty="0"/>
          </a:p>
        </p:txBody>
      </p:sp>
      <p:sp>
        <p:nvSpPr>
          <p:cNvPr id="10" name="Text 8"/>
          <p:cNvSpPr/>
          <p:nvPr/>
        </p:nvSpPr>
        <p:spPr>
          <a:xfrm>
            <a:off x="11045952" y="6601968"/>
            <a:ext cx="5852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03B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800" dirty="0"/>
          </a:p>
        </p:txBody>
      </p:sp>
      <p:pic>
        <p:nvPicPr>
          <p:cNvPr id="11" name="Image 0" descr="/scratch/kinshuk/Model-Research/deliverables/htsr_model_zoo_deck/assets/review_perform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1551056"/>
            <a:ext cx="6803136" cy="3481567"/>
          </a:xfrm>
          <a:prstGeom prst="rect">
            <a:avLst/>
          </a:prstGeom>
        </p:spPr>
      </p:pic>
      <p:pic>
        <p:nvPicPr>
          <p:cNvPr id="12" name="Image 1" descr="/scratch/kinshuk/Model-Research/deliverables/htsr_model_zoo_deck/assets/review_task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2" y="1517061"/>
            <a:ext cx="4334256" cy="266258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424928" y="4736592"/>
            <a:ext cx="4050792" cy="941832"/>
          </a:xfrm>
          <a:prstGeom prst="roundRect">
            <a:avLst>
              <a:gd name="adj" fmla="val 4854"/>
            </a:avLst>
          </a:prstGeom>
          <a:solidFill>
            <a:srgbClr val="E4F3EA"/>
          </a:solidFill>
          <a:ln w="10160">
            <a:solidFill>
              <a:srgbClr val="00693E"/>
            </a:solidFill>
          </a:ln>
        </p:spPr>
        <p:txBody>
          <a:bodyPr wrap="square" lIns="1778" tIns="1778" rIns="1778" bIns="177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AVERAGE-SCORE MAE: MODERN / LEGACY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Non-alpha trees 3.211 / 3.068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Combined trees 3.266 / 3.109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621792" y="5449824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Shape 4.249 / 5.693 · rank 3.726 / 5.227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2,537 modern / 3,515 legacy rows; same near-group splits.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621792" y="6007608"/>
            <a:ext cx="10899648" cy="384048"/>
          </a:xfrm>
          <a:prstGeom prst="roundRect">
            <a:avLst>
              <a:gd name="adj" fmla="val 11905"/>
            </a:avLst>
          </a:prstGeom>
          <a:solidFill>
            <a:srgbClr val="FFF4C7"/>
          </a:solidFill>
          <a:ln w="10160">
            <a:solidFill>
              <a:srgbClr val="FDB515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Alpha-specific gain is not established. Combined = alpha plus other matrix measurements; individual-task checks do not replace the controls.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715000" cy="50292"/>
          </a:xfrm>
          <a:prstGeom prst="rect">
            <a:avLst/>
          </a:prstGeom>
          <a:solidFill>
            <a:srgbClr val="00267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715000" y="0"/>
            <a:ext cx="3337560" cy="50292"/>
          </a:xfrm>
          <a:prstGeom prst="rect">
            <a:avLst/>
          </a:prstGeom>
          <a:solidFill>
            <a:srgbClr val="00693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052560" y="0"/>
            <a:ext cx="3139135" cy="50292"/>
          </a:xfrm>
          <a:prstGeom prst="rect">
            <a:avLst/>
          </a:prstGeom>
          <a:solidFill>
            <a:srgbClr val="FDB51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20116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B42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NEW-REGION STRESS TEST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30352" y="448056"/>
            <a:ext cx="11109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Unseen groups and collections expose larger errors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530352" y="969264"/>
            <a:ext cx="11109960" cy="0"/>
          </a:xfrm>
          <a:prstGeom prst="line">
            <a:avLst/>
          </a:prstGeom>
          <a:noFill/>
          <a:ln w="10160">
            <a:solidFill>
              <a:srgbClr val="D9E2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352" y="6556248"/>
            <a:ext cx="11109960" cy="0"/>
          </a:xfrm>
          <a:prstGeom prst="line">
            <a:avLst/>
          </a:prstGeom>
          <a:noFill/>
          <a:ln w="8890">
            <a:solidFill>
              <a:srgbClr val="D9E2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6620256"/>
            <a:ext cx="99669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Sources: reassessment_0063666fd5733b453c38/performance_metrics.csv; audit prediction_metrics_audit.csv and collection_direction_metrics.csv</a:t>
            </a:r>
            <a:endParaRPr lang="en-US" sz="660" dirty="0"/>
          </a:p>
        </p:txBody>
      </p:sp>
      <p:sp>
        <p:nvSpPr>
          <p:cNvPr id="10" name="Text 8"/>
          <p:cNvSpPr/>
          <p:nvPr/>
        </p:nvSpPr>
        <p:spPr>
          <a:xfrm>
            <a:off x="11045952" y="6601968"/>
            <a:ext cx="5852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B42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800" dirty="0"/>
          </a:p>
        </p:txBody>
      </p:sp>
      <p:pic>
        <p:nvPicPr>
          <p:cNvPr id="11" name="Image 0" descr="/scratch/kinshuk/Model-Research/deliverables/htsr_model_zoo_deck/assets/review_str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" y="1924885"/>
            <a:ext cx="6986016" cy="357515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635240" y="1298448"/>
            <a:ext cx="3721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b="1" dirty="0">
                <a:solidFill>
                  <a:srgbClr val="003B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NON-ALPHA RIDGE · WHOLE-GROUP MAE</a:t>
            </a:r>
            <a:endParaRPr lang="en-US" sz="1080" dirty="0"/>
          </a:p>
        </p:txBody>
      </p:sp>
      <p:sp>
        <p:nvSpPr>
          <p:cNvPr id="13" name="Text 10"/>
          <p:cNvSpPr/>
          <p:nvPr/>
        </p:nvSpPr>
        <p:spPr>
          <a:xfrm>
            <a:off x="7635240" y="1865376"/>
            <a:ext cx="16733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03B9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6.561</a:t>
            </a:r>
            <a:endParaRPr lang="en-US" sz="2700" dirty="0"/>
          </a:p>
        </p:txBody>
      </p:sp>
      <p:sp>
        <p:nvSpPr>
          <p:cNvPr id="14" name="Text 11"/>
          <p:cNvSpPr/>
          <p:nvPr/>
        </p:nvSpPr>
        <p:spPr>
          <a:xfrm>
            <a:off x="7635240" y="2350008"/>
            <a:ext cx="1673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modern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9665208" y="1865376"/>
            <a:ext cx="16733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069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6.873</a:t>
            </a:r>
            <a:endParaRPr lang="en-US" sz="2700" dirty="0"/>
          </a:p>
        </p:txBody>
      </p:sp>
      <p:sp>
        <p:nvSpPr>
          <p:cNvPr id="16" name="Text 13"/>
          <p:cNvSpPr/>
          <p:nvPr/>
        </p:nvSpPr>
        <p:spPr>
          <a:xfrm>
            <a:off x="9665208" y="2350008"/>
            <a:ext cx="1673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legacy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7635240" y="3127248"/>
            <a:ext cx="3703320" cy="886968"/>
          </a:xfrm>
          <a:prstGeom prst="roundRect">
            <a:avLst>
              <a:gd name="adj" fmla="val 5155"/>
            </a:avLst>
          </a:prstGeom>
          <a:solidFill>
            <a:srgbClr val="EAF2FF"/>
          </a:solidFill>
          <a:ln w="10160">
            <a:solidFill>
              <a:srgbClr val="003B95"/>
            </a:solidFill>
          </a:ln>
        </p:spPr>
        <p:txBody>
          <a:bodyPr wrap="square" lIns="1778" tIns="1778" rIns="1778" bIns="177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Whole weight clusters are held out together. This is a shift test, not the near-group interpolation test; compare each method with the training median.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7635240" y="4352544"/>
            <a:ext cx="3703320" cy="987552"/>
          </a:xfrm>
          <a:prstGeom prst="roundRect">
            <a:avLst>
              <a:gd name="adj" fmla="val 4630"/>
            </a:avLst>
          </a:prstGeom>
          <a:solidFill>
            <a:srgbClr val="FEE4E2"/>
          </a:solidFill>
          <a:ln w="10160">
            <a:solidFill>
              <a:srgbClr val="B42318"/>
            </a:solidFill>
          </a:ln>
        </p:spPr>
        <p:txBody>
          <a:bodyPr wrap="square" lIns="1778" tIns="1778" rIns="1778" bIns="1778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B42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COLLECTION-HOLDOUT WARNING</a:t>
            </a:r>
            <a:endParaRPr lang="en-US" sz="1040" dirty="0"/>
          </a:p>
          <a:p>
            <a:pPr algn="ctr" indent="0" marL="0">
              <a:buNone/>
            </a:pPr>
            <a:r>
              <a:rPr lang="en-US" sz="1040" b="1" dirty="0">
                <a:solidFill>
                  <a:srgbClr val="B42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Combined ridge produces 26 modern predictions outside 0-100. These are range failures, not plausible benchmark forecasts.</a:t>
            </a:r>
            <a:endParaRPr lang="en-US" sz="1040" dirty="0"/>
          </a:p>
        </p:txBody>
      </p:sp>
      <p:sp>
        <p:nvSpPr>
          <p:cNvPr id="19" name="Text 16"/>
          <p:cNvSpPr/>
          <p:nvPr/>
        </p:nvSpPr>
        <p:spPr>
          <a:xfrm>
            <a:off x="7635240" y="5660136"/>
            <a:ext cx="3703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B42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Errors change across held-out groups and collections. Inspect the score range and coverage, not only average error.</a:t>
            </a:r>
            <a:endParaRPr lang="en-US" sz="102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715000" cy="50292"/>
          </a:xfrm>
          <a:prstGeom prst="rect">
            <a:avLst/>
          </a:prstGeom>
          <a:solidFill>
            <a:srgbClr val="00267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715000" y="0"/>
            <a:ext cx="3337560" cy="50292"/>
          </a:xfrm>
          <a:prstGeom prst="rect">
            <a:avLst/>
          </a:prstGeom>
          <a:solidFill>
            <a:srgbClr val="00693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052560" y="0"/>
            <a:ext cx="3139135" cy="50292"/>
          </a:xfrm>
          <a:prstGeom prst="rect">
            <a:avLst/>
          </a:prstGeom>
          <a:solidFill>
            <a:srgbClr val="FDB51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20116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026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CONCLUSION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30352" y="448056"/>
            <a:ext cx="11109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Keep rank grouping, test Trace bases, and retain non-alpha controls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530352" y="969264"/>
            <a:ext cx="11109960" cy="0"/>
          </a:xfrm>
          <a:prstGeom prst="line">
            <a:avLst/>
          </a:prstGeom>
          <a:noFill/>
          <a:ln w="10160">
            <a:solidFill>
              <a:srgbClr val="D9E2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352" y="6556248"/>
            <a:ext cx="11109960" cy="0"/>
          </a:xfrm>
          <a:prstGeom prst="line">
            <a:avLst/>
          </a:prstGeom>
          <a:noFill/>
          <a:ln w="8890">
            <a:solidFill>
              <a:srgbClr val="D9E2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6620256"/>
            <a:ext cx="99669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Sources: reassessment_0063666fd5733b453c38/protocol.json, audit tables, and frozen lineage evaluation</a:t>
            </a:r>
            <a:endParaRPr lang="en-US" sz="660" dirty="0"/>
          </a:p>
        </p:txBody>
      </p:sp>
      <p:sp>
        <p:nvSpPr>
          <p:cNvPr id="10" name="Text 8"/>
          <p:cNvSpPr/>
          <p:nvPr/>
        </p:nvSpPr>
        <p:spPr>
          <a:xfrm>
            <a:off x="11045952" y="6601968"/>
            <a:ext cx="5852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026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66928" y="1243584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069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Retain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566928" y="1746504"/>
            <a:ext cx="3108960" cy="0"/>
          </a:xfrm>
          <a:prstGeom prst="line">
            <a:avLst/>
          </a:prstGeom>
          <a:noFill/>
          <a:ln w="27940">
            <a:solidFill>
              <a:srgbClr val="00693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2084832"/>
            <a:ext cx="3108960" cy="694944"/>
          </a:xfrm>
          <a:prstGeom prst="roundRect">
            <a:avLst>
              <a:gd name="adj" fmla="val 6579"/>
            </a:avLst>
          </a:prstGeom>
          <a:solidFill>
            <a:srgbClr val="E4F3EA"/>
          </a:solidFill>
          <a:ln w="10160">
            <a:solidFill>
              <a:srgbClr val="00693E"/>
            </a:solidFill>
          </a:ln>
        </p:spPr>
        <p:txBody>
          <a:bodyPr wrap="square" lIns="1778" tIns="1778" rIns="1778" bIns="1778" rtlCol="0" anchor="ctr"/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layer-wise grouping: all-matrix summaries cover more models but separate families poorly</a:t>
            </a:r>
            <a:endParaRPr lang="en-US" sz="1070" dirty="0"/>
          </a:p>
        </p:txBody>
      </p:sp>
      <p:sp>
        <p:nvSpPr>
          <p:cNvPr id="14" name="Text 12"/>
          <p:cNvSpPr/>
          <p:nvPr/>
        </p:nvSpPr>
        <p:spPr>
          <a:xfrm>
            <a:off x="566928" y="3017520"/>
            <a:ext cx="3108960" cy="694944"/>
          </a:xfrm>
          <a:prstGeom prst="roundRect">
            <a:avLst>
              <a:gd name="adj" fmla="val 6579"/>
            </a:avLst>
          </a:prstGeom>
          <a:solidFill>
            <a:srgbClr val="E4F3EA"/>
          </a:solidFill>
          <a:ln w="10160">
            <a:solidFill>
              <a:srgbClr val="00693E"/>
            </a:solidFill>
          </a:ln>
        </p:spPr>
        <p:txBody>
          <a:bodyPr wrap="square" lIns="1778" tIns="1778" rIns="1778" bIns="1778" rtlCol="0" anchor="ctr"/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Trace as a base-retrieval comparison, with fixed gallery and tie diagnostics</a:t>
            </a:r>
            <a:endParaRPr lang="en-US" sz="1070" dirty="0"/>
          </a:p>
        </p:txBody>
      </p:sp>
      <p:sp>
        <p:nvSpPr>
          <p:cNvPr id="15" name="Text 13"/>
          <p:cNvSpPr/>
          <p:nvPr/>
        </p:nvSpPr>
        <p:spPr>
          <a:xfrm>
            <a:off x="566928" y="3950208"/>
            <a:ext cx="3108960" cy="694944"/>
          </a:xfrm>
          <a:prstGeom prst="roundRect">
            <a:avLst>
              <a:gd name="adj" fmla="val 6579"/>
            </a:avLst>
          </a:prstGeom>
          <a:solidFill>
            <a:srgbClr val="E4F3EA"/>
          </a:solidFill>
          <a:ln w="10160">
            <a:solidFill>
              <a:srgbClr val="00693E"/>
            </a:solidFill>
          </a:ln>
        </p:spPr>
        <p:txBody>
          <a:bodyPr wrap="square" lIns="1778" tIns="1778" rIns="1778" bIns="1778" rtlCol="0" anchor="ctr"/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Non-alpha trees as baseline: MAE 3.211 modern / 3.068 legacy</a:t>
            </a:r>
            <a:endParaRPr lang="en-US" sz="1070" dirty="0"/>
          </a:p>
        </p:txBody>
      </p:sp>
      <p:sp>
        <p:nvSpPr>
          <p:cNvPr id="16" name="Text 14"/>
          <p:cNvSpPr/>
          <p:nvPr/>
        </p:nvSpPr>
        <p:spPr>
          <a:xfrm>
            <a:off x="4096512" y="1243584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03B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Interpretation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4096512" y="1746504"/>
            <a:ext cx="3108960" cy="0"/>
          </a:xfrm>
          <a:prstGeom prst="line">
            <a:avLst/>
          </a:prstGeom>
          <a:noFill/>
          <a:ln w="27940">
            <a:solidFill>
              <a:srgbClr val="003B9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096512" y="2084832"/>
            <a:ext cx="3108960" cy="694944"/>
          </a:xfrm>
          <a:prstGeom prst="roundRect">
            <a:avLst>
              <a:gd name="adj" fmla="val 6579"/>
            </a:avLst>
          </a:prstGeom>
          <a:solidFill>
            <a:srgbClr val="EAF2FF"/>
          </a:solidFill>
          <a:ln w="10160">
            <a:solidFill>
              <a:srgbClr val="003B95"/>
            </a:solidFill>
          </a:ln>
        </p:spPr>
        <p:txBody>
          <a:bodyPr wrap="square" lIns="1778" tIns="1778" rIns="1778" bIns="1778" rtlCol="0" anchor="ctr"/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Ranks discard magnitude; direct measurements predict scores better</a:t>
            </a:r>
            <a:endParaRPr lang="en-US" sz="1070" dirty="0"/>
          </a:p>
        </p:txBody>
      </p:sp>
      <p:sp>
        <p:nvSpPr>
          <p:cNvPr id="19" name="Text 17"/>
          <p:cNvSpPr/>
          <p:nvPr/>
        </p:nvSpPr>
        <p:spPr>
          <a:xfrm>
            <a:off x="4096512" y="3017520"/>
            <a:ext cx="3108960" cy="694944"/>
          </a:xfrm>
          <a:prstGeom prst="roundRect">
            <a:avLst>
              <a:gd name="adj" fmla="val 6579"/>
            </a:avLst>
          </a:prstGeom>
          <a:solidFill>
            <a:srgbClr val="EAF2FF"/>
          </a:solidFill>
          <a:ln w="10160">
            <a:solidFill>
              <a:srgbClr val="003B95"/>
            </a:solidFill>
          </a:ln>
        </p:spPr>
        <p:txBody>
          <a:bodyPr wrap="square" lIns="1778" tIns="1778" rIns="1778" bIns="1778" rtlCol="0" anchor="ctr"/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Adding alpha did not improve the key spectral controls</a:t>
            </a:r>
            <a:endParaRPr lang="en-US" sz="1070" dirty="0"/>
          </a:p>
        </p:txBody>
      </p:sp>
      <p:sp>
        <p:nvSpPr>
          <p:cNvPr id="20" name="Text 18"/>
          <p:cNvSpPr/>
          <p:nvPr/>
        </p:nvSpPr>
        <p:spPr>
          <a:xfrm>
            <a:off x="4096512" y="3950208"/>
            <a:ext cx="3108960" cy="694944"/>
          </a:xfrm>
          <a:prstGeom prst="roundRect">
            <a:avLst>
              <a:gd name="adj" fmla="val 6579"/>
            </a:avLst>
          </a:prstGeom>
          <a:solidFill>
            <a:srgbClr val="EAF2FF"/>
          </a:solidFill>
          <a:ln w="10160">
            <a:solidFill>
              <a:srgbClr val="003B95"/>
            </a:solidFill>
          </a:ln>
        </p:spPr>
        <p:txBody>
          <a:bodyPr wrap="square" lIns="1778" tIns="1778" rIns="1778" bIns="1778" rtlCol="0" anchor="ctr"/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prediction and broad grouping are distinct from historical ancestry</a:t>
            </a:r>
            <a:endParaRPr lang="en-US" sz="1070" dirty="0"/>
          </a:p>
        </p:txBody>
      </p:sp>
      <p:sp>
        <p:nvSpPr>
          <p:cNvPr id="21" name="Text 19"/>
          <p:cNvSpPr/>
          <p:nvPr/>
        </p:nvSpPr>
        <p:spPr>
          <a:xfrm>
            <a:off x="7626096" y="1243584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9A6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Remaining uncertainty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7626096" y="1746504"/>
            <a:ext cx="3108960" cy="0"/>
          </a:xfrm>
          <a:prstGeom prst="line">
            <a:avLst/>
          </a:prstGeom>
          <a:noFill/>
          <a:ln w="27940">
            <a:solidFill>
              <a:srgbClr val="9A6A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26096" y="2084832"/>
            <a:ext cx="3108960" cy="694944"/>
          </a:xfrm>
          <a:prstGeom prst="roundRect">
            <a:avLst>
              <a:gd name="adj" fmla="val 6579"/>
            </a:avLst>
          </a:prstGeom>
          <a:solidFill>
            <a:srgbClr val="FFF4C7"/>
          </a:solidFill>
          <a:ln w="10160">
            <a:solidFill>
              <a:srgbClr val="9A6A00"/>
            </a:solidFill>
          </a:ln>
        </p:spPr>
        <p:txBody>
          <a:bodyPr wrap="square" lIns="1778" tIns="1778" rIns="1778" bIns="1778" rtlCol="0" anchor="ctr"/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Repository-ID source joins do not verify the analyzed checkpoint revision</a:t>
            </a:r>
            <a:endParaRPr lang="en-US" sz="1070" dirty="0"/>
          </a:p>
        </p:txBody>
      </p:sp>
      <p:sp>
        <p:nvSpPr>
          <p:cNvPr id="24" name="Text 22"/>
          <p:cNvSpPr/>
          <p:nvPr/>
        </p:nvSpPr>
        <p:spPr>
          <a:xfrm>
            <a:off x="7626096" y="3017520"/>
            <a:ext cx="3108960" cy="694944"/>
          </a:xfrm>
          <a:prstGeom prst="roundRect">
            <a:avLst>
              <a:gd name="adj" fmla="val 6579"/>
            </a:avLst>
          </a:prstGeom>
          <a:solidFill>
            <a:srgbClr val="FFF4C7"/>
          </a:solidFill>
          <a:ln w="10160">
            <a:solidFill>
              <a:srgbClr val="9A6A00"/>
            </a:solidFill>
          </a:ln>
        </p:spPr>
        <p:txBody>
          <a:bodyPr wrap="square" lIns="1778" tIns="1778" rIns="1778" bIns="1778" rtlCol="0" anchor="ctr"/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bases and near-tied candidates limit exact-ID retrieval</a:t>
            </a:r>
            <a:endParaRPr lang="en-US" sz="1070" dirty="0"/>
          </a:p>
        </p:txBody>
      </p:sp>
      <p:sp>
        <p:nvSpPr>
          <p:cNvPr id="25" name="Text 23"/>
          <p:cNvSpPr/>
          <p:nvPr/>
        </p:nvSpPr>
        <p:spPr>
          <a:xfrm>
            <a:off x="7626096" y="3950208"/>
            <a:ext cx="3108960" cy="694944"/>
          </a:xfrm>
          <a:prstGeom prst="roundRect">
            <a:avLst>
              <a:gd name="adj" fmla="val 6579"/>
            </a:avLst>
          </a:prstGeom>
          <a:solidFill>
            <a:srgbClr val="FFF4C7"/>
          </a:solidFill>
          <a:ln w="10160">
            <a:solidFill>
              <a:srgbClr val="9A6A00"/>
            </a:solidFill>
          </a:ln>
        </p:spPr>
        <p:txBody>
          <a:bodyPr wrap="square" lIns="1778" tIns="1778" rIns="1778" bIns="1778" rtlCol="0" anchor="ctr"/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Whole-group shifts worsen errors; collection-shift ridge can leave 0-100</a:t>
            </a:r>
            <a:endParaRPr lang="en-US" sz="1070" dirty="0"/>
          </a:p>
        </p:txBody>
      </p:sp>
      <p:sp>
        <p:nvSpPr>
          <p:cNvPr id="26" name="Text 24"/>
          <p:cNvSpPr/>
          <p:nvPr/>
        </p:nvSpPr>
        <p:spPr>
          <a:xfrm>
            <a:off x="566928" y="5705856"/>
            <a:ext cx="10716768" cy="621792"/>
          </a:xfrm>
          <a:prstGeom prst="roundRect">
            <a:avLst>
              <a:gd name="adj" fmla="val 7353"/>
            </a:avLst>
          </a:prstGeom>
          <a:solidFill>
            <a:srgbClr val="002676"/>
          </a:solidFill>
          <a:ln w="10160">
            <a:solidFill>
              <a:srgbClr val="002676"/>
            </a:solidFill>
          </a:ln>
        </p:spPr>
        <p:txBody>
          <a:bodyPr wrap="square" lIns="1778" tIns="1778" rIns="1778" bIns="1778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Exploratory evidence, not an untouched replication. Before deployment: verify checkpoint revisions, test external roots, and calibrate rejection on separate data.</a:t>
            </a:r>
            <a:endParaRPr lang="en-US" sz="112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0267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394960" cy="64008"/>
          </a:xfrm>
          <a:prstGeom prst="rect">
            <a:avLst/>
          </a:prstGeom>
          <a:solidFill>
            <a:srgbClr val="FDB51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394960" y="0"/>
            <a:ext cx="2834640" cy="64008"/>
          </a:xfrm>
          <a:prstGeom prst="rect">
            <a:avLst/>
          </a:prstGeom>
          <a:solidFill>
            <a:srgbClr val="00693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0" y="0"/>
            <a:ext cx="3962095" cy="64008"/>
          </a:xfrm>
          <a:prstGeom prst="rect">
            <a:avLst/>
          </a:prstGeom>
          <a:solidFill>
            <a:srgbClr val="00AEE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6583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DB5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58368" y="1161288"/>
            <a:ext cx="7955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Methods and definitions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658368" y="2029968"/>
            <a:ext cx="9052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6E3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Operational details, next weight-based methods, and terms used in the main results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13232" y="306324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AE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A1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353312" y="3200400"/>
            <a:ext cx="603504" cy="0"/>
          </a:xfrm>
          <a:prstGeom prst="line">
            <a:avLst/>
          </a:prstGeom>
          <a:noFill/>
          <a:ln w="22860">
            <a:solidFill>
              <a:srgbClr val="00AE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39696" y="3054096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Collection and GPU scheduling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13232" y="372160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DB5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A2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353312" y="3858768"/>
            <a:ext cx="603504" cy="0"/>
          </a:xfrm>
          <a:prstGeom prst="line">
            <a:avLst/>
          </a:prstGeom>
          <a:noFill/>
          <a:ln w="22860">
            <a:solidFill>
              <a:srgbClr val="FDB51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39696" y="3712464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Matrix analysis and storage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13232" y="4379976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5C1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A3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353312" y="4517136"/>
            <a:ext cx="603504" cy="0"/>
          </a:xfrm>
          <a:prstGeom prst="line">
            <a:avLst/>
          </a:prstGeom>
          <a:noFill/>
          <a:ln w="22860">
            <a:solidFill>
              <a:srgbClr val="65C18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139696" y="43708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Future direct weight comparison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13232" y="503834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A4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1353312" y="5175504"/>
            <a:ext cx="603504" cy="0"/>
          </a:xfrm>
          <a:prstGeom prst="line">
            <a:avLst/>
          </a:prstGeom>
          <a:noFill/>
          <a:ln w="2286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139696" y="5029200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Terms and evidence guide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018520" y="6510528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DB5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715000" cy="50292"/>
          </a:xfrm>
          <a:prstGeom prst="rect">
            <a:avLst/>
          </a:prstGeom>
          <a:solidFill>
            <a:srgbClr val="00267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715000" y="0"/>
            <a:ext cx="3337560" cy="50292"/>
          </a:xfrm>
          <a:prstGeom prst="rect">
            <a:avLst/>
          </a:prstGeom>
          <a:solidFill>
            <a:srgbClr val="00693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052560" y="0"/>
            <a:ext cx="3139135" cy="50292"/>
          </a:xfrm>
          <a:prstGeom prst="rect">
            <a:avLst/>
          </a:prstGeom>
          <a:solidFill>
            <a:srgbClr val="FDB51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20116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03B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 A1 · COLLECTION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30352" y="448056"/>
            <a:ext cx="11109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One scheduler assigns jobs to available graphics processors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530352" y="969264"/>
            <a:ext cx="11109960" cy="0"/>
          </a:xfrm>
          <a:prstGeom prst="line">
            <a:avLst/>
          </a:prstGeom>
          <a:noFill/>
          <a:ln w="10160">
            <a:solidFill>
              <a:srgbClr val="D9E2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352" y="6556248"/>
            <a:ext cx="11109960" cy="0"/>
          </a:xfrm>
          <a:prstGeom prst="line">
            <a:avLst/>
          </a:prstGeom>
          <a:noFill/>
          <a:ln w="8890">
            <a:solidFill>
              <a:srgbClr val="D9E2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6620256"/>
            <a:ext cx="99669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Sources: Model-Zoo/esd_experiment/gputracker and Model-Zoo/docs/operations/analysis.md</a:t>
            </a:r>
            <a:endParaRPr lang="en-US" sz="660" dirty="0"/>
          </a:p>
        </p:txBody>
      </p:sp>
      <p:sp>
        <p:nvSpPr>
          <p:cNvPr id="10" name="Text 8"/>
          <p:cNvSpPr/>
          <p:nvPr/>
        </p:nvSpPr>
        <p:spPr>
          <a:xfrm>
            <a:off x="11045952" y="6601968"/>
            <a:ext cx="5852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03B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30352" y="1225296"/>
            <a:ext cx="1920240" cy="640080"/>
          </a:xfrm>
          <a:prstGeom prst="roundRect">
            <a:avLst>
              <a:gd name="adj" fmla="val 7143"/>
            </a:avLst>
          </a:prstGeom>
          <a:solidFill>
            <a:srgbClr val="EAF2FF"/>
          </a:solidFill>
          <a:ln w="10160">
            <a:solidFill>
              <a:srgbClr val="003B95"/>
            </a:solidFill>
          </a:ln>
        </p:spPr>
        <p:txBody>
          <a:bodyPr wrap="square" lIns="1778" tIns="1778" rIns="1778" bIns="177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Curated model list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587752" y="1545336"/>
            <a:ext cx="502920" cy="0"/>
          </a:xfrm>
          <a:prstGeom prst="line">
            <a:avLst/>
          </a:prstGeom>
          <a:noFill/>
          <a:ln w="19050">
            <a:solidFill>
              <a:srgbClr val="003B95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3218688" y="1143000"/>
            <a:ext cx="2487168" cy="804672"/>
          </a:xfrm>
          <a:prstGeom prst="roundRect">
            <a:avLst>
              <a:gd name="adj" fmla="val 5682"/>
            </a:avLst>
          </a:prstGeom>
          <a:solidFill>
            <a:srgbClr val="002676"/>
          </a:solidFill>
          <a:ln w="10160">
            <a:solidFill>
              <a:srgbClr val="002676"/>
            </a:solidFill>
          </a:ln>
        </p:spPr>
        <p:txBody>
          <a:bodyPr wrap="square" lIns="1778" tIns="1778" rIns="1778" bIns="1778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Scheduler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checks GPU memory and reservations</a:t>
            </a:r>
            <a:endParaRPr lang="en-US" sz="1120" dirty="0"/>
          </a:p>
        </p:txBody>
      </p:sp>
      <p:sp>
        <p:nvSpPr>
          <p:cNvPr id="14" name="Shape 12"/>
          <p:cNvSpPr/>
          <p:nvPr/>
        </p:nvSpPr>
        <p:spPr>
          <a:xfrm>
            <a:off x="4462272" y="2048256"/>
            <a:ext cx="0" cy="0"/>
          </a:xfrm>
          <a:prstGeom prst="line">
            <a:avLst/>
          </a:prstGeom>
          <a:noFill/>
          <a:ln w="19050">
            <a:solidFill>
              <a:srgbClr val="667085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462272" y="1993392"/>
            <a:ext cx="-3255264" cy="612648"/>
          </a:xfrm>
          <a:prstGeom prst="line">
            <a:avLst/>
          </a:prstGeom>
          <a:noFill/>
          <a:ln w="15240">
            <a:solidFill>
              <a:srgbClr val="D9E2EC"/>
            </a:solidFill>
            <a:prstDash val="solid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594360" y="2670048"/>
            <a:ext cx="1225296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0160">
            <a:solidFill>
              <a:srgbClr val="003B95"/>
            </a:solidFill>
          </a:ln>
        </p:spPr>
        <p:txBody>
          <a:bodyPr wrap="square" lIns="1778" tIns="1778" rIns="1778" bIns="177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Job 1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A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41832" y="3566160"/>
            <a:ext cx="530352" cy="0"/>
          </a:xfrm>
          <a:prstGeom prst="line">
            <a:avLst/>
          </a:prstGeom>
          <a:noFill/>
          <a:ln w="19050">
            <a:solidFill>
              <a:srgbClr val="003B95"/>
            </a:solidFill>
            <a:prstDash val="solid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594360" y="3803904"/>
            <a:ext cx="1225296" cy="640080"/>
          </a:xfrm>
          <a:prstGeom prst="roundRect">
            <a:avLst>
              <a:gd name="adj" fmla="val 7143"/>
            </a:avLst>
          </a:prstGeom>
          <a:solidFill>
            <a:srgbClr val="F7F9FC"/>
          </a:solidFill>
          <a:ln w="10160">
            <a:solidFill>
              <a:srgbClr val="003B95"/>
            </a:solidFill>
          </a:ln>
        </p:spPr>
        <p:txBody>
          <a:bodyPr wrap="square" lIns="1778" tIns="1778" rIns="1778" bIns="1778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assigned</a:t>
            </a:r>
            <a:endParaRPr lang="en-US" sz="980" dirty="0"/>
          </a:p>
          <a:p>
            <a:pPr algn="ctr" indent="0" marL="0">
              <a:buNone/>
            </a:pPr>
            <a:r>
              <a:rPr lang="en-US" sz="980" b="1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GPU(s)</a:t>
            </a:r>
            <a:endParaRPr lang="en-US" sz="980" dirty="0"/>
          </a:p>
        </p:txBody>
      </p:sp>
      <p:sp>
        <p:nvSpPr>
          <p:cNvPr id="19" name="Shape 17"/>
          <p:cNvSpPr/>
          <p:nvPr/>
        </p:nvSpPr>
        <p:spPr>
          <a:xfrm>
            <a:off x="4462272" y="1993392"/>
            <a:ext cx="-1645920" cy="612648"/>
          </a:xfrm>
          <a:prstGeom prst="line">
            <a:avLst/>
          </a:prstGeom>
          <a:noFill/>
          <a:ln w="15240">
            <a:solidFill>
              <a:srgbClr val="D9E2EC"/>
            </a:solidFill>
            <a:prstDash val="solid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2203704" y="2670048"/>
            <a:ext cx="1225296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0160">
            <a:solidFill>
              <a:srgbClr val="00693E"/>
            </a:solidFill>
          </a:ln>
        </p:spPr>
        <p:txBody>
          <a:bodyPr wrap="square" lIns="1778" tIns="1778" rIns="1778" bIns="177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Job 2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B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551176" y="3566160"/>
            <a:ext cx="530352" cy="0"/>
          </a:xfrm>
          <a:prstGeom prst="line">
            <a:avLst/>
          </a:prstGeom>
          <a:noFill/>
          <a:ln w="19050">
            <a:solidFill>
              <a:srgbClr val="00693E"/>
            </a:solidFill>
            <a:prstDash val="solid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2203704" y="3803904"/>
            <a:ext cx="1225296" cy="640080"/>
          </a:xfrm>
          <a:prstGeom prst="roundRect">
            <a:avLst>
              <a:gd name="adj" fmla="val 7143"/>
            </a:avLst>
          </a:prstGeom>
          <a:solidFill>
            <a:srgbClr val="F7F9FC"/>
          </a:solidFill>
          <a:ln w="10160">
            <a:solidFill>
              <a:srgbClr val="00693E"/>
            </a:solidFill>
          </a:ln>
        </p:spPr>
        <p:txBody>
          <a:bodyPr wrap="square" lIns="1778" tIns="1778" rIns="1778" bIns="1778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assigned</a:t>
            </a:r>
            <a:endParaRPr lang="en-US" sz="980" dirty="0"/>
          </a:p>
          <a:p>
            <a:pPr algn="ctr" indent="0" marL="0">
              <a:buNone/>
            </a:pPr>
            <a:r>
              <a:rPr lang="en-US" sz="980" b="1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GPU(s)</a:t>
            </a:r>
            <a:endParaRPr lang="en-US" sz="980" dirty="0"/>
          </a:p>
        </p:txBody>
      </p:sp>
      <p:sp>
        <p:nvSpPr>
          <p:cNvPr id="23" name="Shape 21"/>
          <p:cNvSpPr/>
          <p:nvPr/>
        </p:nvSpPr>
        <p:spPr>
          <a:xfrm>
            <a:off x="4462272" y="1993392"/>
            <a:ext cx="-36576" cy="612648"/>
          </a:xfrm>
          <a:prstGeom prst="line">
            <a:avLst/>
          </a:prstGeom>
          <a:noFill/>
          <a:ln w="15240">
            <a:solidFill>
              <a:srgbClr val="D9E2EC"/>
            </a:solidFill>
            <a:prstDash val="solid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3813048" y="2670048"/>
            <a:ext cx="1225296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0160">
            <a:solidFill>
              <a:srgbClr val="9A6A00"/>
            </a:solidFill>
          </a:ln>
        </p:spPr>
        <p:txBody>
          <a:bodyPr wrap="square" lIns="1778" tIns="1778" rIns="1778" bIns="177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Job 3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C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160520" y="3566160"/>
            <a:ext cx="530352" cy="0"/>
          </a:xfrm>
          <a:prstGeom prst="line">
            <a:avLst/>
          </a:prstGeom>
          <a:noFill/>
          <a:ln w="19050">
            <a:solidFill>
              <a:srgbClr val="9A6A00"/>
            </a:solidFill>
            <a:prstDash val="solid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3813048" y="3803904"/>
            <a:ext cx="1225296" cy="640080"/>
          </a:xfrm>
          <a:prstGeom prst="roundRect">
            <a:avLst>
              <a:gd name="adj" fmla="val 7143"/>
            </a:avLst>
          </a:prstGeom>
          <a:solidFill>
            <a:srgbClr val="F7F9FC"/>
          </a:solidFill>
          <a:ln w="10160">
            <a:solidFill>
              <a:srgbClr val="9A6A00"/>
            </a:solidFill>
          </a:ln>
        </p:spPr>
        <p:txBody>
          <a:bodyPr wrap="square" lIns="1778" tIns="1778" rIns="1778" bIns="1778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assigned</a:t>
            </a:r>
            <a:endParaRPr lang="en-US" sz="980" dirty="0"/>
          </a:p>
          <a:p>
            <a:pPr algn="ctr" indent="0" marL="0">
              <a:buNone/>
            </a:pPr>
            <a:r>
              <a:rPr lang="en-US" sz="980" b="1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GPU(s)</a:t>
            </a:r>
            <a:endParaRPr lang="en-US" sz="980" dirty="0"/>
          </a:p>
        </p:txBody>
      </p:sp>
      <p:sp>
        <p:nvSpPr>
          <p:cNvPr id="27" name="Shape 25"/>
          <p:cNvSpPr/>
          <p:nvPr/>
        </p:nvSpPr>
        <p:spPr>
          <a:xfrm>
            <a:off x="4462272" y="1993392"/>
            <a:ext cx="1572768" cy="612648"/>
          </a:xfrm>
          <a:prstGeom prst="line">
            <a:avLst/>
          </a:prstGeom>
          <a:noFill/>
          <a:ln w="15240">
            <a:solidFill>
              <a:srgbClr val="D9E2EC"/>
            </a:solidFill>
            <a:prstDash val="solid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5422392" y="2670048"/>
            <a:ext cx="1225296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0160">
            <a:solidFill>
              <a:srgbClr val="B42318"/>
            </a:solidFill>
          </a:ln>
        </p:spPr>
        <p:txBody>
          <a:bodyPr wrap="square" lIns="1778" tIns="1778" rIns="1778" bIns="177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Job 4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D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769864" y="3566160"/>
            <a:ext cx="530352" cy="0"/>
          </a:xfrm>
          <a:prstGeom prst="line">
            <a:avLst/>
          </a:prstGeom>
          <a:noFill/>
          <a:ln w="19050">
            <a:solidFill>
              <a:srgbClr val="B42318"/>
            </a:solidFill>
            <a:prstDash val="solid"/>
            <a:tailEnd type="triangle"/>
          </a:ln>
        </p:spPr>
      </p:sp>
      <p:sp>
        <p:nvSpPr>
          <p:cNvPr id="30" name="Text 28"/>
          <p:cNvSpPr/>
          <p:nvPr/>
        </p:nvSpPr>
        <p:spPr>
          <a:xfrm>
            <a:off x="5422392" y="3803904"/>
            <a:ext cx="1225296" cy="640080"/>
          </a:xfrm>
          <a:prstGeom prst="roundRect">
            <a:avLst>
              <a:gd name="adj" fmla="val 7143"/>
            </a:avLst>
          </a:prstGeom>
          <a:solidFill>
            <a:srgbClr val="F7F9FC"/>
          </a:solidFill>
          <a:ln w="10160">
            <a:solidFill>
              <a:srgbClr val="B42318"/>
            </a:solidFill>
          </a:ln>
        </p:spPr>
        <p:txBody>
          <a:bodyPr wrap="square" lIns="1778" tIns="1778" rIns="1778" bIns="1778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assigned</a:t>
            </a:r>
            <a:endParaRPr lang="en-US" sz="980" dirty="0"/>
          </a:p>
          <a:p>
            <a:pPr algn="ctr" indent="0" marL="0">
              <a:buNone/>
            </a:pPr>
            <a:r>
              <a:rPr lang="en-US" sz="980" b="1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GPU(s)</a:t>
            </a:r>
            <a:endParaRPr lang="en-US" sz="980" dirty="0"/>
          </a:p>
        </p:txBody>
      </p:sp>
      <p:sp>
        <p:nvSpPr>
          <p:cNvPr id="31" name="Text 29"/>
          <p:cNvSpPr/>
          <p:nvPr/>
        </p:nvSpPr>
        <p:spPr>
          <a:xfrm>
            <a:off x="7388352" y="120700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03B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CONFIGURABLE CONTROLS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388352" y="1572768"/>
            <a:ext cx="4187952" cy="420624"/>
          </a:xfrm>
          <a:prstGeom prst="roundRect">
            <a:avLst>
              <a:gd name="adj" fmla="val 10870"/>
            </a:avLst>
          </a:prstGeom>
          <a:solidFill>
            <a:srgbClr val="EAF2FF"/>
          </a:solidFill>
          <a:ln w="10160">
            <a:solidFill>
              <a:srgbClr val="D9E2EC"/>
            </a:solidFill>
          </a:ln>
        </p:spPr>
        <p:txBody>
          <a:bodyPr wrap="square" lIns="1524" tIns="1524" rIns="1524" bIns="1524" rtlCol="0" anchor="ctr"/>
          <a:lstStyle/>
          <a:p>
            <a:pPr algn="l" indent="0" marL="0">
              <a:buNone/>
            </a:pPr>
            <a:r>
              <a:rPr lang="en-US" sz="101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GPU IDs may be used</a:t>
            </a:r>
            <a:endParaRPr lang="en-US" sz="1010" dirty="0"/>
          </a:p>
        </p:txBody>
      </p:sp>
      <p:sp>
        <p:nvSpPr>
          <p:cNvPr id="33" name="Text 31"/>
          <p:cNvSpPr/>
          <p:nvPr/>
        </p:nvSpPr>
        <p:spPr>
          <a:xfrm>
            <a:off x="7388352" y="2139696"/>
            <a:ext cx="4187952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txBody>
          <a:bodyPr wrap="square" lIns="1524" tIns="1524" rIns="1524" bIns="1524" rtlCol="0" anchor="ctr"/>
          <a:lstStyle/>
          <a:p>
            <a:pPr algn="l" indent="0" marL="0">
              <a:buNone/>
            </a:pPr>
            <a:r>
              <a:rPr lang="en-US" sz="101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GPUs per job and jobs at once</a:t>
            </a:r>
            <a:endParaRPr lang="en-US" sz="1010" dirty="0"/>
          </a:p>
        </p:txBody>
      </p:sp>
      <p:sp>
        <p:nvSpPr>
          <p:cNvPr id="34" name="Text 32"/>
          <p:cNvSpPr/>
          <p:nvPr/>
        </p:nvSpPr>
        <p:spPr>
          <a:xfrm>
            <a:off x="7388352" y="2706624"/>
            <a:ext cx="4187952" cy="420624"/>
          </a:xfrm>
          <a:prstGeom prst="roundRect">
            <a:avLst>
              <a:gd name="adj" fmla="val 10870"/>
            </a:avLst>
          </a:prstGeom>
          <a:solidFill>
            <a:srgbClr val="EAF2FF"/>
          </a:solidFill>
          <a:ln w="10160">
            <a:solidFill>
              <a:srgbClr val="D9E2EC"/>
            </a:solidFill>
          </a:ln>
        </p:spPr>
        <p:txBody>
          <a:bodyPr wrap="square" lIns="1524" tIns="1524" rIns="1524" bIns="1524" rtlCol="0" anchor="ctr"/>
          <a:lstStyle/>
          <a:p>
            <a:pPr algn="l" indent="0" marL="0">
              <a:buNone/>
            </a:pPr>
            <a:r>
              <a:rPr lang="en-US" sz="101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memory threshold before assignment</a:t>
            </a:r>
            <a:endParaRPr lang="en-US" sz="1010" dirty="0"/>
          </a:p>
        </p:txBody>
      </p:sp>
      <p:sp>
        <p:nvSpPr>
          <p:cNvPr id="35" name="Text 33"/>
          <p:cNvSpPr/>
          <p:nvPr/>
        </p:nvSpPr>
        <p:spPr>
          <a:xfrm>
            <a:off x="7388352" y="3273552"/>
            <a:ext cx="4187952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txBody>
          <a:bodyPr wrap="square" lIns="1524" tIns="1524" rIns="1524" bIns="1524" rtlCol="0" anchor="ctr"/>
          <a:lstStyle/>
          <a:p>
            <a:pPr algn="l" indent="0" marL="0">
              <a:buNone/>
            </a:pPr>
            <a:r>
              <a:rPr lang="en-US" sz="101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retry count and stale-job timeout</a:t>
            </a:r>
            <a:endParaRPr lang="en-US" sz="1010" dirty="0"/>
          </a:p>
        </p:txBody>
      </p:sp>
      <p:sp>
        <p:nvSpPr>
          <p:cNvPr id="36" name="Text 34"/>
          <p:cNvSpPr/>
          <p:nvPr/>
        </p:nvSpPr>
        <p:spPr>
          <a:xfrm>
            <a:off x="7388352" y="3840480"/>
            <a:ext cx="4187952" cy="420624"/>
          </a:xfrm>
          <a:prstGeom prst="roundRect">
            <a:avLst>
              <a:gd name="adj" fmla="val 10870"/>
            </a:avLst>
          </a:prstGeom>
          <a:solidFill>
            <a:srgbClr val="EAF2FF"/>
          </a:solidFill>
          <a:ln w="10160">
            <a:solidFill>
              <a:srgbClr val="D9E2EC"/>
            </a:solidFill>
          </a:ln>
        </p:spPr>
        <p:txBody>
          <a:bodyPr wrap="square" lIns="1524" tIns="1524" rIns="1524" bIns="1524" rtlCol="0" anchor="ctr"/>
          <a:lstStyle/>
          <a:p>
            <a:pPr algn="l" indent="0" marL="0">
              <a:buNone/>
            </a:pPr>
            <a:r>
              <a:rPr lang="en-US" sz="101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reload, drain, or stop while running</a:t>
            </a:r>
            <a:endParaRPr lang="en-US" sz="1010" dirty="0"/>
          </a:p>
        </p:txBody>
      </p:sp>
      <p:sp>
        <p:nvSpPr>
          <p:cNvPr id="37" name="Text 35"/>
          <p:cNvSpPr/>
          <p:nvPr/>
        </p:nvSpPr>
        <p:spPr>
          <a:xfrm>
            <a:off x="7388352" y="4590288"/>
            <a:ext cx="4187952" cy="841248"/>
          </a:xfrm>
          <a:prstGeom prst="roundRect">
            <a:avLst>
              <a:gd name="adj" fmla="val 5435"/>
            </a:avLst>
          </a:prstGeom>
          <a:solidFill>
            <a:srgbClr val="FFF4C7"/>
          </a:solidFill>
          <a:ln w="10160">
            <a:solidFill>
              <a:srgbClr val="FDB515"/>
            </a:solidFill>
          </a:ln>
        </p:spPr>
        <p:txBody>
          <a:bodyPr wrap="square" lIns="1778" tIns="1778" rIns="1778" bIns="1778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job uses its own download cache. Removing it after the job prevents storage growth, at the cost of downloading shared files again.</a:t>
            </a:r>
            <a:endParaRPr lang="en-US" sz="1020" dirty="0"/>
          </a:p>
        </p:txBody>
      </p:sp>
      <p:sp>
        <p:nvSpPr>
          <p:cNvPr id="38" name="Text 36"/>
          <p:cNvSpPr/>
          <p:nvPr/>
        </p:nvSpPr>
        <p:spPr>
          <a:xfrm>
            <a:off x="658368" y="5705856"/>
            <a:ext cx="10771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8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memory check and internal reservation avoid overlap among these jobs; they are not a cluster-wide lock against unrelated users.</a:t>
            </a:r>
            <a:endParaRPr lang="en-US" sz="98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715000" cy="50292"/>
          </a:xfrm>
          <a:prstGeom prst="rect">
            <a:avLst/>
          </a:prstGeom>
          <a:solidFill>
            <a:srgbClr val="00267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715000" y="0"/>
            <a:ext cx="3337560" cy="50292"/>
          </a:xfrm>
          <a:prstGeom prst="rect">
            <a:avLst/>
          </a:prstGeom>
          <a:solidFill>
            <a:srgbClr val="00693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052560" y="0"/>
            <a:ext cx="3139135" cy="50292"/>
          </a:xfrm>
          <a:prstGeom prst="rect">
            <a:avLst/>
          </a:prstGeom>
          <a:solidFill>
            <a:srgbClr val="FDB51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20116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069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 A2 · MODEL ANALYSIS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30352" y="448056"/>
            <a:ext cx="11109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From weight matrices to saved spectral measurements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530352" y="969264"/>
            <a:ext cx="11109960" cy="0"/>
          </a:xfrm>
          <a:prstGeom prst="line">
            <a:avLst/>
          </a:prstGeom>
          <a:noFill/>
          <a:ln w="10160">
            <a:solidFill>
              <a:srgbClr val="D9E2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352" y="6556248"/>
            <a:ext cx="11109960" cy="0"/>
          </a:xfrm>
          <a:prstGeom prst="line">
            <a:avLst/>
          </a:prstGeom>
          <a:noFill/>
          <a:ln w="8890">
            <a:solidFill>
              <a:srgbClr val="D9E2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6620256"/>
            <a:ext cx="99669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Sources: Model-Zoo/esd_experiment/src/worker.py and Model-Zoo/README.md</a:t>
            </a:r>
            <a:endParaRPr lang="en-US" sz="660" dirty="0"/>
          </a:p>
        </p:txBody>
      </p:sp>
      <p:sp>
        <p:nvSpPr>
          <p:cNvPr id="10" name="Text 8"/>
          <p:cNvSpPr/>
          <p:nvPr/>
        </p:nvSpPr>
        <p:spPr>
          <a:xfrm>
            <a:off x="11045952" y="6601968"/>
            <a:ext cx="5852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069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93776" y="1298448"/>
            <a:ext cx="1600200" cy="612648"/>
          </a:xfrm>
          <a:prstGeom prst="roundRect">
            <a:avLst>
              <a:gd name="adj" fmla="val 7463"/>
            </a:avLst>
          </a:prstGeom>
          <a:solidFill>
            <a:srgbClr val="FFFFFF"/>
          </a:solidFill>
          <a:ln w="10160">
            <a:solidFill>
              <a:srgbClr val="003B95"/>
            </a:solidFill>
          </a:ln>
        </p:spPr>
        <p:txBody>
          <a:bodyPr wrap="square" lIns="1778" tIns="1778" rIns="1778" bIns="1778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20624" y="2048256"/>
            <a:ext cx="1746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2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weight matrix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2194560" y="1609344"/>
            <a:ext cx="475488" cy="0"/>
          </a:xfrm>
          <a:prstGeom prst="line">
            <a:avLst/>
          </a:prstGeom>
          <a:noFill/>
          <a:ln w="19050">
            <a:solidFill>
              <a:srgbClr val="667085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2834640" y="1298448"/>
            <a:ext cx="1600200" cy="612648"/>
          </a:xfrm>
          <a:prstGeom prst="roundRect">
            <a:avLst>
              <a:gd name="adj" fmla="val 7463"/>
            </a:avLst>
          </a:prstGeom>
          <a:solidFill>
            <a:srgbClr val="FFFFFF"/>
          </a:solidFill>
          <a:ln w="10160">
            <a:solidFill>
              <a:srgbClr val="002676"/>
            </a:solidFill>
          </a:ln>
        </p:spPr>
        <p:txBody>
          <a:bodyPr wrap="square" lIns="1778" tIns="1778" rIns="1778" bIns="1778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761488" y="2048256"/>
            <a:ext cx="1746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2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singular values</a:t>
            </a:r>
            <a:endParaRPr lang="en-US" sz="920" dirty="0"/>
          </a:p>
        </p:txBody>
      </p:sp>
      <p:sp>
        <p:nvSpPr>
          <p:cNvPr id="16" name="Shape 14"/>
          <p:cNvSpPr/>
          <p:nvPr/>
        </p:nvSpPr>
        <p:spPr>
          <a:xfrm>
            <a:off x="4535424" y="1609344"/>
            <a:ext cx="475488" cy="0"/>
          </a:xfrm>
          <a:prstGeom prst="line">
            <a:avLst/>
          </a:prstGeom>
          <a:noFill/>
          <a:ln w="19050">
            <a:solidFill>
              <a:srgbClr val="667085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5175504" y="1298448"/>
            <a:ext cx="1600200" cy="612648"/>
          </a:xfrm>
          <a:prstGeom prst="roundRect">
            <a:avLst>
              <a:gd name="adj" fmla="val 7463"/>
            </a:avLst>
          </a:prstGeom>
          <a:solidFill>
            <a:srgbClr val="FFFFFF"/>
          </a:solidFill>
          <a:ln w="10160">
            <a:solidFill>
              <a:srgbClr val="00693E"/>
            </a:solidFill>
          </a:ln>
        </p:spPr>
        <p:txBody>
          <a:bodyPr wrap="square" lIns="1778" tIns="1778" rIns="1778" bIns="1778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s²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102352" y="2048256"/>
            <a:ext cx="1746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2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eigenvalues of WᵀW</a:t>
            </a:r>
            <a:endParaRPr lang="en-US" sz="920" dirty="0"/>
          </a:p>
        </p:txBody>
      </p:sp>
      <p:sp>
        <p:nvSpPr>
          <p:cNvPr id="19" name="Shape 17"/>
          <p:cNvSpPr/>
          <p:nvPr/>
        </p:nvSpPr>
        <p:spPr>
          <a:xfrm>
            <a:off x="6876288" y="1609344"/>
            <a:ext cx="475488" cy="0"/>
          </a:xfrm>
          <a:prstGeom prst="line">
            <a:avLst/>
          </a:prstGeom>
          <a:noFill/>
          <a:ln w="19050">
            <a:solidFill>
              <a:srgbClr val="667085"/>
            </a:solidFill>
            <a:prstDash val="solid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7516368" y="1298448"/>
            <a:ext cx="1600200" cy="612648"/>
          </a:xfrm>
          <a:prstGeom prst="roundRect">
            <a:avLst>
              <a:gd name="adj" fmla="val 7463"/>
            </a:avLst>
          </a:prstGeom>
          <a:solidFill>
            <a:srgbClr val="FFFFFF"/>
          </a:solidFill>
          <a:ln w="10160">
            <a:solidFill>
              <a:srgbClr val="9A6A00"/>
            </a:solidFill>
          </a:ln>
        </p:spPr>
        <p:txBody>
          <a:bodyPr wrap="square" lIns="1778" tIns="1778" rIns="1778" bIns="1778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alpha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443216" y="2048256"/>
            <a:ext cx="1746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2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power-law tail fit</a:t>
            </a:r>
            <a:endParaRPr lang="en-US" sz="920" dirty="0"/>
          </a:p>
        </p:txBody>
      </p:sp>
      <p:sp>
        <p:nvSpPr>
          <p:cNvPr id="22" name="Shape 20"/>
          <p:cNvSpPr/>
          <p:nvPr/>
        </p:nvSpPr>
        <p:spPr>
          <a:xfrm>
            <a:off x="9217152" y="1609344"/>
            <a:ext cx="475488" cy="0"/>
          </a:xfrm>
          <a:prstGeom prst="line">
            <a:avLst/>
          </a:prstGeom>
          <a:noFill/>
          <a:ln w="19050">
            <a:solidFill>
              <a:srgbClr val="667085"/>
            </a:solidFill>
            <a:prstDash val="solid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9857232" y="1298448"/>
            <a:ext cx="1600200" cy="612648"/>
          </a:xfrm>
          <a:prstGeom prst="roundRect">
            <a:avLst>
              <a:gd name="adj" fmla="val 7463"/>
            </a:avLst>
          </a:prstGeom>
          <a:solidFill>
            <a:srgbClr val="B42318"/>
          </a:solidFill>
          <a:ln w="10160">
            <a:solidFill>
              <a:srgbClr val="B42318"/>
            </a:solidFill>
          </a:ln>
        </p:spPr>
        <p:txBody>
          <a:bodyPr wrap="square" lIns="1778" tIns="1778" rIns="1778" bIns="1778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784080" y="2048256"/>
            <a:ext cx="1746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2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metrics + layer role</a:t>
            </a:r>
            <a:endParaRPr lang="en-US" sz="920" dirty="0"/>
          </a:p>
        </p:txBody>
      </p:sp>
      <p:sp>
        <p:nvSpPr>
          <p:cNvPr id="25" name="Text 23"/>
          <p:cNvSpPr/>
          <p:nvPr/>
        </p:nvSpPr>
        <p:spPr>
          <a:xfrm>
            <a:off x="621792" y="277063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069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PLUG-IN ANALYSIS CHOICES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21792" y="3172968"/>
            <a:ext cx="2468880" cy="731520"/>
          </a:xfrm>
          <a:prstGeom prst="roundRect">
            <a:avLst>
              <a:gd name="adj" fmla="val 6250"/>
            </a:avLst>
          </a:prstGeom>
          <a:solidFill>
            <a:srgbClr val="E4F3EA"/>
          </a:solidFill>
          <a:ln w="10160">
            <a:solidFill>
              <a:srgbClr val="00693E"/>
            </a:solidFill>
          </a:ln>
        </p:spPr>
        <p:txBody>
          <a:bodyPr wrap="square" lIns="1778" tIns="1778" rIns="1778" bIns="1778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DKS</a:t>
            </a:r>
            <a:endParaRPr lang="en-US" sz="1080" dirty="0"/>
          </a:p>
          <a:p>
            <a:pPr algn="ctr" indent="0" marL="0">
              <a:buNone/>
            </a:pPr>
            <a:r>
              <a:rPr lang="en-US" sz="108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the tail start that best fits</a:t>
            </a:r>
            <a:endParaRPr lang="en-US" sz="1080" dirty="0"/>
          </a:p>
        </p:txBody>
      </p:sp>
      <p:sp>
        <p:nvSpPr>
          <p:cNvPr id="27" name="Text 25"/>
          <p:cNvSpPr/>
          <p:nvPr/>
        </p:nvSpPr>
        <p:spPr>
          <a:xfrm>
            <a:off x="3310128" y="3172968"/>
            <a:ext cx="2468880" cy="731520"/>
          </a:xfrm>
          <a:prstGeom prst="roundRect">
            <a:avLst>
              <a:gd name="adj" fmla="val 6250"/>
            </a:avLst>
          </a:prstGeom>
          <a:solidFill>
            <a:srgbClr val="EAF2FF"/>
          </a:solidFill>
          <a:ln w="10160">
            <a:solidFill>
              <a:srgbClr val="003B95"/>
            </a:solidFill>
          </a:ln>
        </p:spPr>
        <p:txBody>
          <a:bodyPr wrap="square" lIns="1778" tIns="1778" rIns="1778" bIns="1778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Fixed rules</a:t>
            </a:r>
            <a:endParaRPr lang="en-US" sz="1080" dirty="0"/>
          </a:p>
          <a:p>
            <a:pPr algn="ctr" indent="0" marL="0">
              <a:buNone/>
            </a:pPr>
            <a:r>
              <a:rPr lang="en-US" sz="108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a specified part of the tail</a:t>
            </a:r>
            <a:endParaRPr lang="en-US" sz="1080" dirty="0"/>
          </a:p>
        </p:txBody>
      </p:sp>
      <p:sp>
        <p:nvSpPr>
          <p:cNvPr id="28" name="Text 26"/>
          <p:cNvSpPr/>
          <p:nvPr/>
        </p:nvSpPr>
        <p:spPr>
          <a:xfrm>
            <a:off x="6419088" y="277063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03B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STRUCTURED OUTPUTS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419088" y="3172968"/>
            <a:ext cx="1499616" cy="932688"/>
          </a:xfrm>
          <a:prstGeom prst="roundRect">
            <a:avLst>
              <a:gd name="adj" fmla="val 4902"/>
            </a:avLst>
          </a:prstGeom>
          <a:solidFill>
            <a:srgbClr val="F7F9FC"/>
          </a:solidFill>
          <a:ln w="10160">
            <a:solidFill>
              <a:srgbClr val="D9E2EC"/>
            </a:solidFill>
          </a:ln>
        </p:spPr>
        <p:txBody>
          <a:bodyPr wrap="square" lIns="1143" tIns="1143" rIns="1143" bIns="1143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CSV / HDF5</a:t>
            </a:r>
            <a:endParaRPr lang="en-US" sz="930" dirty="0"/>
          </a:p>
          <a:p>
            <a:pPr algn="ctr" indent="0" marL="0">
              <a:buNone/>
            </a:pPr>
            <a:r>
              <a:rPr lang="en-US" sz="93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per-layer metrics and model fields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8119872" y="3172968"/>
            <a:ext cx="1499616" cy="932688"/>
          </a:xfrm>
          <a:prstGeom prst="roundRect">
            <a:avLst>
              <a:gd name="adj" fmla="val 4902"/>
            </a:avLst>
          </a:prstGeom>
          <a:solidFill>
            <a:srgbClr val="FFF4C7"/>
          </a:solidFill>
          <a:ln w="10160">
            <a:solidFill>
              <a:srgbClr val="FDB515"/>
            </a:solidFill>
          </a:ln>
        </p:spPr>
        <p:txBody>
          <a:bodyPr wrap="square" lIns="1143" tIns="1143" rIns="1143" bIns="1143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Optional eigenvalues</a:t>
            </a:r>
            <a:endParaRPr lang="en-US" sz="930" dirty="0"/>
          </a:p>
          <a:p>
            <a:pPr algn="ctr" indent="0" marL="0">
              <a:buNone/>
            </a:pPr>
            <a:r>
              <a:rPr lang="en-US" sz="93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larger files; useful for later re-fitting</a:t>
            </a:r>
            <a:endParaRPr lang="en-US" sz="930" dirty="0"/>
          </a:p>
        </p:txBody>
      </p:sp>
      <p:sp>
        <p:nvSpPr>
          <p:cNvPr id="31" name="Text 29"/>
          <p:cNvSpPr/>
          <p:nvPr/>
        </p:nvSpPr>
        <p:spPr>
          <a:xfrm>
            <a:off x="9820656" y="3172968"/>
            <a:ext cx="1499616" cy="932688"/>
          </a:xfrm>
          <a:prstGeom prst="roundRect">
            <a:avLst>
              <a:gd name="adj" fmla="val 4902"/>
            </a:avLst>
          </a:prstGeom>
          <a:solidFill>
            <a:srgbClr val="F7F9FC"/>
          </a:solidFill>
          <a:ln w="10160">
            <a:solidFill>
              <a:srgbClr val="D9E2EC"/>
            </a:solidFill>
          </a:ln>
        </p:spPr>
        <p:txBody>
          <a:bodyPr wrap="square" lIns="1143" tIns="1143" rIns="1143" bIns="1143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Logs and status</a:t>
            </a:r>
            <a:endParaRPr lang="en-US" sz="930" dirty="0"/>
          </a:p>
          <a:p>
            <a:pPr algn="ctr" indent="0" marL="0">
              <a:buNone/>
            </a:pPr>
            <a:r>
              <a:rPr lang="en-US" sz="93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progress, failures, retries, and timing</a:t>
            </a:r>
            <a:endParaRPr lang="en-US" sz="930" dirty="0"/>
          </a:p>
        </p:txBody>
      </p:sp>
      <p:sp>
        <p:nvSpPr>
          <p:cNvPr id="32" name="Text 30"/>
          <p:cNvSpPr/>
          <p:nvPr/>
        </p:nvSpPr>
        <p:spPr>
          <a:xfrm>
            <a:off x="621792" y="4919472"/>
            <a:ext cx="5157216" cy="822960"/>
          </a:xfrm>
          <a:prstGeom prst="roundRect">
            <a:avLst>
              <a:gd name="adj" fmla="val 5556"/>
            </a:avLst>
          </a:prstGeom>
          <a:solidFill>
            <a:srgbClr val="EAF2FF"/>
          </a:solidFill>
          <a:ln w="10160">
            <a:solidFill>
              <a:srgbClr val="003B95"/>
            </a:solidFill>
          </a:ln>
        </p:spPr>
        <p:txBody>
          <a:bodyPr wrap="square" lIns="1778" tIns="1778" rIns="1778" bIns="1778" rtlCol="0" anchor="ctr"/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Matrix work can be split across several GPUs. This lowers wall-clock time when matrix operations dominate, but does not guarantee fewer total GPU-seconds.</a:t>
            </a:r>
            <a:endParaRPr lang="en-US" sz="1030" dirty="0"/>
          </a:p>
        </p:txBody>
      </p:sp>
      <p:sp>
        <p:nvSpPr>
          <p:cNvPr id="33" name="Text 31"/>
          <p:cNvSpPr/>
          <p:nvPr/>
        </p:nvSpPr>
        <p:spPr>
          <a:xfrm>
            <a:off x="6419088" y="4919472"/>
            <a:ext cx="5157216" cy="822960"/>
          </a:xfrm>
          <a:prstGeom prst="roundRect">
            <a:avLst>
              <a:gd name="adj" fmla="val 5556"/>
            </a:avLst>
          </a:prstGeom>
          <a:solidFill>
            <a:srgbClr val="FEE4E2"/>
          </a:solidFill>
          <a:ln w="10160">
            <a:solidFill>
              <a:srgbClr val="B42318"/>
            </a:solidFill>
          </a:ln>
        </p:spPr>
        <p:txBody>
          <a:bodyPr wrap="square" lIns="1778" tIns="1778" rIns="1778" bIns="1778" rtlCol="0" anchor="ctr"/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Analysis continues past inaccessible or repeatedly failing models after the configured retry limit. Completed records remain available for aggregation.</a:t>
            </a:r>
            <a:endParaRPr lang="en-US" sz="103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715000" cy="50292"/>
          </a:xfrm>
          <a:prstGeom prst="rect">
            <a:avLst/>
          </a:prstGeom>
          <a:solidFill>
            <a:srgbClr val="00267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715000" y="0"/>
            <a:ext cx="3337560" cy="50292"/>
          </a:xfrm>
          <a:prstGeom prst="rect">
            <a:avLst/>
          </a:prstGeom>
          <a:solidFill>
            <a:srgbClr val="00693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052560" y="0"/>
            <a:ext cx="3139135" cy="50292"/>
          </a:xfrm>
          <a:prstGeom prst="rect">
            <a:avLst/>
          </a:prstGeom>
          <a:solidFill>
            <a:srgbClr val="FDB51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20116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069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 A3 · NEXT EVIDENCE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30352" y="448056"/>
            <a:ext cx="11109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Add direct weight-matrix comparisons for within-family verification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530352" y="969264"/>
            <a:ext cx="11109960" cy="0"/>
          </a:xfrm>
          <a:prstGeom prst="line">
            <a:avLst/>
          </a:prstGeom>
          <a:noFill/>
          <a:ln w="10160">
            <a:solidFill>
              <a:srgbClr val="D9E2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352" y="6556248"/>
            <a:ext cx="11109960" cy="0"/>
          </a:xfrm>
          <a:prstGeom prst="line">
            <a:avLst/>
          </a:prstGeom>
          <a:noFill/>
          <a:ln w="8890">
            <a:solidFill>
              <a:srgbClr val="D9E2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6620256"/>
            <a:ext cx="99669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sources: https://arxiv.org/html/2608.07786v1; https://arxiv.org/html/2608.14929v1; https://arxiv.org/html/2510.06738v3</a:t>
            </a:r>
            <a:endParaRPr lang="en-US" sz="660" dirty="0"/>
          </a:p>
        </p:txBody>
      </p:sp>
      <p:sp>
        <p:nvSpPr>
          <p:cNvPr id="10" name="Text 8"/>
          <p:cNvSpPr/>
          <p:nvPr/>
        </p:nvSpPr>
        <p:spPr>
          <a:xfrm>
            <a:off x="11045952" y="6601968"/>
            <a:ext cx="5852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069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58368" y="1298448"/>
            <a:ext cx="2834640" cy="1188720"/>
          </a:xfrm>
          <a:prstGeom prst="roundRect">
            <a:avLst>
              <a:gd name="adj" fmla="val 3846"/>
            </a:avLst>
          </a:prstGeom>
          <a:solidFill>
            <a:srgbClr val="EAF2FF"/>
          </a:solidFill>
          <a:ln w="10160">
            <a:solidFill>
              <a:srgbClr val="003B95"/>
            </a:solidFill>
          </a:ln>
        </p:spPr>
        <p:txBody>
          <a:bodyPr wrap="square" lIns="1778" tIns="1778" rIns="1778" bIns="177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STAGE 1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rank grouping + Trace retrieval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10,946 rank assignments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39312" y="1901952"/>
            <a:ext cx="914400" cy="0"/>
          </a:xfrm>
          <a:prstGeom prst="line">
            <a:avLst/>
          </a:prstGeom>
          <a:noFill/>
          <a:ln w="19050">
            <a:solidFill>
              <a:srgbClr val="667085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4709160" y="1298448"/>
            <a:ext cx="2834640" cy="1188720"/>
          </a:xfrm>
          <a:prstGeom prst="roundRect">
            <a:avLst>
              <a:gd name="adj" fmla="val 3846"/>
            </a:avLst>
          </a:prstGeom>
          <a:solidFill>
            <a:srgbClr val="E4F3EA"/>
          </a:solidFill>
          <a:ln w="10160">
            <a:solidFill>
              <a:srgbClr val="00693E"/>
            </a:solidFill>
          </a:ln>
        </p:spPr>
        <p:txBody>
          <a:bodyPr wrap="square" lIns="1778" tIns="1778" rIns="1778" bIns="177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STAGE 2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direct weight-matrix check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small candidate set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699248" y="1901952"/>
            <a:ext cx="914400" cy="0"/>
          </a:xfrm>
          <a:prstGeom prst="line">
            <a:avLst/>
          </a:prstGeom>
          <a:noFill/>
          <a:ln w="19050">
            <a:solidFill>
              <a:srgbClr val="667085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8759952" y="1298448"/>
            <a:ext cx="2834640" cy="1188720"/>
          </a:xfrm>
          <a:prstGeom prst="roundRect">
            <a:avLst>
              <a:gd name="adj" fmla="val 3846"/>
            </a:avLst>
          </a:prstGeom>
          <a:solidFill>
            <a:srgbClr val="FFF4C7"/>
          </a:solidFill>
          <a:ln w="10160">
            <a:solidFill>
              <a:srgbClr val="FDB515"/>
            </a:solidFill>
          </a:ln>
        </p:spPr>
        <p:txBody>
          <a:bodyPr wrap="square" lIns="1778" tIns="1778" rIns="1778" bIns="177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relatedness evidence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calibrate on separate pairs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58368" y="3063240"/>
            <a:ext cx="3090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03B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arXiv:2608.07786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58368" y="3438144"/>
            <a:ext cx="3090672" cy="658368"/>
          </a:xfrm>
          <a:prstGeom prst="roundRect">
            <a:avLst>
              <a:gd name="adj" fmla="val 6944"/>
            </a:avLst>
          </a:prstGeom>
          <a:solidFill>
            <a:srgbClr val="F7F9FC"/>
          </a:solidFill>
          <a:ln w="10160">
            <a:solidFill>
              <a:srgbClr val="003B95"/>
            </a:solidFill>
          </a:ln>
        </p:spPr>
        <p:txBody>
          <a:bodyPr wrap="square" lIns="1778" tIns="1778" rIns="1778" bIns="1778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Spectral energy + subspace alignment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58368" y="4288536"/>
            <a:ext cx="3090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6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Trace tested from sqrt(norm). Fine directional comparison requires top singular vectors, not scalar summaries.</a:t>
            </a:r>
            <a:endParaRPr lang="en-US" sz="960" dirty="0"/>
          </a:p>
        </p:txBody>
      </p:sp>
      <p:sp>
        <p:nvSpPr>
          <p:cNvPr id="19" name="Text 17"/>
          <p:cNvSpPr/>
          <p:nvPr/>
        </p:nvSpPr>
        <p:spPr>
          <a:xfrm>
            <a:off x="4096512" y="3063240"/>
            <a:ext cx="3090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069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arXiv:2608.14929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096512" y="3438144"/>
            <a:ext cx="3090672" cy="658368"/>
          </a:xfrm>
          <a:prstGeom prst="roundRect">
            <a:avLst>
              <a:gd name="adj" fmla="val 6944"/>
            </a:avLst>
          </a:prstGeom>
          <a:solidFill>
            <a:srgbClr val="F7F9FC"/>
          </a:solidFill>
          <a:ln w="10160">
            <a:solidFill>
              <a:srgbClr val="00693E"/>
            </a:solidFill>
          </a:ln>
        </p:spPr>
        <p:txBody>
          <a:bodyPr wrap="square" lIns="1778" tIns="1778" rIns="1778" bIns="1778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Centered residual signatures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096512" y="4288536"/>
            <a:ext cx="3090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6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Center Wout Win by subtracting trace(M) I/d. Requires compatible blocks; symmetric similarity is not ancestry direction.</a:t>
            </a:r>
            <a:endParaRPr lang="en-US" sz="960" dirty="0"/>
          </a:p>
        </p:txBody>
      </p:sp>
      <p:sp>
        <p:nvSpPr>
          <p:cNvPr id="22" name="Text 20"/>
          <p:cNvSpPr/>
          <p:nvPr/>
        </p:nvSpPr>
        <p:spPr>
          <a:xfrm>
            <a:off x="7534656" y="3063240"/>
            <a:ext cx="3090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9A6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AWM · arXiv:2510.06738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7534656" y="3438144"/>
            <a:ext cx="3090672" cy="658368"/>
          </a:xfrm>
          <a:prstGeom prst="roundRect">
            <a:avLst>
              <a:gd name="adj" fmla="val 6944"/>
            </a:avLst>
          </a:prstGeom>
          <a:solidFill>
            <a:srgbClr val="F7F9FC"/>
          </a:solidFill>
          <a:ln w="10160">
            <a:solidFill>
              <a:srgbClr val="9A6A00"/>
            </a:solidFill>
          </a:ln>
        </p:spPr>
        <p:txBody>
          <a:bodyPr wrap="square" lIns="1778" tIns="1778" rIns="1778" bIns="1778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Assignment + centered alignment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534656" y="4288536"/>
            <a:ext cx="3090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6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Embedding assignment and sign alignment, then Q/K unbiased CKA. Requires direct weights; not tested in this audit.</a:t>
            </a:r>
            <a:endParaRPr lang="en-US" sz="960" dirty="0"/>
          </a:p>
        </p:txBody>
      </p:sp>
      <p:sp>
        <p:nvSpPr>
          <p:cNvPr id="25" name="Text 23"/>
          <p:cNvSpPr/>
          <p:nvPr/>
        </p:nvSpPr>
        <p:spPr>
          <a:xfrm>
            <a:off x="658368" y="5358384"/>
            <a:ext cx="10881360" cy="640080"/>
          </a:xfrm>
          <a:prstGeom prst="roundRect">
            <a:avLst>
              <a:gd name="adj" fmla="val 7143"/>
            </a:avLst>
          </a:prstGeom>
          <a:solidFill>
            <a:srgbClr val="FEE4E2"/>
          </a:solidFill>
          <a:ln w="10160">
            <a:solidFill>
              <a:srgbClr val="B42318"/>
            </a:solidFill>
          </a:ln>
        </p:spPr>
        <p:txBody>
          <a:bodyPr wrap="square" lIns="1778" tIns="1778" rIns="1778" bIns="1778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B42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Trace is feasible from saved scalar norms and was tested. Directional, residual, and AWM checks still require unavailable direct-weight information; none alone proves historical ancestry.</a:t>
            </a:r>
            <a:endParaRPr lang="en-US" sz="108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715000" cy="50292"/>
          </a:xfrm>
          <a:prstGeom prst="rect">
            <a:avLst/>
          </a:prstGeom>
          <a:solidFill>
            <a:srgbClr val="00267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715000" y="0"/>
            <a:ext cx="3337560" cy="50292"/>
          </a:xfrm>
          <a:prstGeom prst="rect">
            <a:avLst/>
          </a:prstGeom>
          <a:solidFill>
            <a:srgbClr val="00693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052560" y="0"/>
            <a:ext cx="3139135" cy="50292"/>
          </a:xfrm>
          <a:prstGeom prst="rect">
            <a:avLst/>
          </a:prstGeom>
          <a:solidFill>
            <a:srgbClr val="FDB51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20116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03B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 A4 · DEFINITIONS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30352" y="448056"/>
            <a:ext cx="11109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Measures used in this study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530352" y="969264"/>
            <a:ext cx="11109960" cy="0"/>
          </a:xfrm>
          <a:prstGeom prst="line">
            <a:avLst/>
          </a:prstGeom>
          <a:noFill/>
          <a:ln w="10160">
            <a:solidFill>
              <a:srgbClr val="D9E2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352" y="6556248"/>
            <a:ext cx="11109960" cy="0"/>
          </a:xfrm>
          <a:prstGeom prst="line">
            <a:avLst/>
          </a:prstGeom>
          <a:noFill/>
          <a:ln w="8890">
            <a:solidFill>
              <a:srgbClr val="D9E2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6620256"/>
            <a:ext cx="99669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Definitions follow the analysis code and cited reference methods.</a:t>
            </a:r>
            <a:endParaRPr lang="en-US" sz="660" dirty="0"/>
          </a:p>
        </p:txBody>
      </p:sp>
      <p:sp>
        <p:nvSpPr>
          <p:cNvPr id="10" name="Text 8"/>
          <p:cNvSpPr/>
          <p:nvPr/>
        </p:nvSpPr>
        <p:spPr>
          <a:xfrm>
            <a:off x="11045952" y="6601968"/>
            <a:ext cx="5852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03B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21792" y="123444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3B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Alpha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039112" y="1225296"/>
            <a:ext cx="38587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3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Exponent fitted to the upper eigenvalue distribution of a weight matrix.</a:t>
            </a:r>
            <a:endParaRPr lang="en-US" sz="1030" dirty="0"/>
          </a:p>
        </p:txBody>
      </p:sp>
      <p:sp>
        <p:nvSpPr>
          <p:cNvPr id="13" name="Shape 11"/>
          <p:cNvSpPr/>
          <p:nvPr/>
        </p:nvSpPr>
        <p:spPr>
          <a:xfrm>
            <a:off x="621792" y="1984248"/>
            <a:ext cx="5266944" cy="0"/>
          </a:xfrm>
          <a:prstGeom prst="line">
            <a:avLst/>
          </a:prstGeom>
          <a:noFill/>
          <a:ln w="8890">
            <a:solidFill>
              <a:srgbClr val="D9E2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" y="231343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3B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DKS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039112" y="2304288"/>
            <a:ext cx="38587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3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Chooses the tail start that minimizes the Kolmogorov-Smirnov fit distance.</a:t>
            </a:r>
            <a:endParaRPr lang="en-US" sz="1030" dirty="0"/>
          </a:p>
        </p:txBody>
      </p:sp>
      <p:sp>
        <p:nvSpPr>
          <p:cNvPr id="16" name="Shape 14"/>
          <p:cNvSpPr/>
          <p:nvPr/>
        </p:nvSpPr>
        <p:spPr>
          <a:xfrm>
            <a:off x="621792" y="3063240"/>
            <a:ext cx="5266944" cy="0"/>
          </a:xfrm>
          <a:prstGeom prst="line">
            <a:avLst/>
          </a:prstGeom>
          <a:noFill/>
          <a:ln w="8890">
            <a:solidFill>
              <a:srgbClr val="D9E2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" y="3392424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3B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ARI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039112" y="3383280"/>
            <a:ext cx="38587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3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Adjusted Rand Index: grouping agreement corrected for chance; 1 is exact.</a:t>
            </a:r>
            <a:endParaRPr lang="en-US" sz="1030" dirty="0"/>
          </a:p>
        </p:txBody>
      </p:sp>
      <p:sp>
        <p:nvSpPr>
          <p:cNvPr id="19" name="Shape 17"/>
          <p:cNvSpPr/>
          <p:nvPr/>
        </p:nvSpPr>
        <p:spPr>
          <a:xfrm>
            <a:off x="621792" y="4142232"/>
            <a:ext cx="5266944" cy="0"/>
          </a:xfrm>
          <a:prstGeom prst="line">
            <a:avLst/>
          </a:prstGeom>
          <a:noFill/>
          <a:ln w="8890">
            <a:solidFill>
              <a:srgbClr val="D9E2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" y="4471416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3B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Spearman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039112" y="4462272"/>
            <a:ext cx="38587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3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Agreement in rank order; 1 means the two rankings match.</a:t>
            </a:r>
            <a:endParaRPr lang="en-US" sz="1030" dirty="0"/>
          </a:p>
        </p:txBody>
      </p:sp>
      <p:sp>
        <p:nvSpPr>
          <p:cNvPr id="22" name="Shape 20"/>
          <p:cNvSpPr/>
          <p:nvPr/>
        </p:nvSpPr>
        <p:spPr>
          <a:xfrm>
            <a:off x="621792" y="5221224"/>
            <a:ext cx="5266944" cy="0"/>
          </a:xfrm>
          <a:prstGeom prst="line">
            <a:avLst/>
          </a:prstGeom>
          <a:noFill/>
          <a:ln w="8890">
            <a:solidFill>
              <a:srgbClr val="D9E2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36208" y="123444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69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653528" y="1225296"/>
            <a:ext cx="38587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3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 absolute error: the average size of a score prediction error.</a:t>
            </a:r>
            <a:endParaRPr lang="en-US" sz="1030" dirty="0"/>
          </a:p>
        </p:txBody>
      </p:sp>
      <p:sp>
        <p:nvSpPr>
          <p:cNvPr id="25" name="Shape 23"/>
          <p:cNvSpPr/>
          <p:nvPr/>
        </p:nvSpPr>
        <p:spPr>
          <a:xfrm>
            <a:off x="6236208" y="1984248"/>
            <a:ext cx="5266944" cy="0"/>
          </a:xfrm>
          <a:prstGeom prst="line">
            <a:avLst/>
          </a:prstGeom>
          <a:noFill/>
          <a:ln w="8890">
            <a:solidFill>
              <a:srgbClr val="D9E2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36208" y="231343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69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Near-group test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653528" y="2304288"/>
            <a:ext cx="38587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3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near-profile groups intact in five fixed parts; fit scores using the other four.</a:t>
            </a:r>
            <a:endParaRPr lang="en-US" sz="1030" dirty="0"/>
          </a:p>
        </p:txBody>
      </p:sp>
      <p:sp>
        <p:nvSpPr>
          <p:cNvPr id="28" name="Shape 26"/>
          <p:cNvSpPr/>
          <p:nvPr/>
        </p:nvSpPr>
        <p:spPr>
          <a:xfrm>
            <a:off x="6236208" y="3063240"/>
            <a:ext cx="5266944" cy="0"/>
          </a:xfrm>
          <a:prstGeom prst="line">
            <a:avLst/>
          </a:prstGeom>
          <a:noFill/>
          <a:ln w="8890">
            <a:solidFill>
              <a:srgbClr val="D9E2E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36208" y="3392424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69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653528" y="3383280"/>
            <a:ext cx="38587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3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 role-wise Pearson of Frobenius depth profiles; resample to pair-max depth.</a:t>
            </a:r>
            <a:endParaRPr lang="en-US" sz="1030" dirty="0"/>
          </a:p>
        </p:txBody>
      </p:sp>
      <p:sp>
        <p:nvSpPr>
          <p:cNvPr id="31" name="Shape 29"/>
          <p:cNvSpPr/>
          <p:nvPr/>
        </p:nvSpPr>
        <p:spPr>
          <a:xfrm>
            <a:off x="6236208" y="4142232"/>
            <a:ext cx="5266944" cy="0"/>
          </a:xfrm>
          <a:prstGeom prst="line">
            <a:avLst/>
          </a:prstGeom>
          <a:noFill/>
          <a:ln w="8890">
            <a:solidFill>
              <a:srgbClr val="D9E2E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36208" y="4471416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69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Representative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653528" y="4462272"/>
            <a:ext cx="38587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3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observed core model closest to its group mean; not necessarily its historical base.</a:t>
            </a:r>
            <a:endParaRPr lang="en-US" sz="1030" dirty="0"/>
          </a:p>
        </p:txBody>
      </p:sp>
      <p:sp>
        <p:nvSpPr>
          <p:cNvPr id="34" name="Shape 32"/>
          <p:cNvSpPr/>
          <p:nvPr/>
        </p:nvSpPr>
        <p:spPr>
          <a:xfrm>
            <a:off x="6236208" y="5221224"/>
            <a:ext cx="5266944" cy="0"/>
          </a:xfrm>
          <a:prstGeom prst="line">
            <a:avLst/>
          </a:prstGeom>
          <a:noFill/>
          <a:ln w="8890">
            <a:solidFill>
              <a:srgbClr val="D9E2E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1792" y="5724144"/>
            <a:ext cx="10954512" cy="594360"/>
          </a:xfrm>
          <a:prstGeom prst="roundRect">
            <a:avLst>
              <a:gd name="adj" fmla="val 7692"/>
            </a:avLst>
          </a:prstGeom>
          <a:solidFill>
            <a:srgbClr val="002676"/>
          </a:solidFill>
          <a:ln w="10160">
            <a:solidFill>
              <a:srgbClr val="002676"/>
            </a:solidFill>
          </a:ln>
        </p:spPr>
        <p:txBody>
          <a:bodyPr wrap="square" lIns="1778" tIns="1778" rIns="1778" bIns="1778" rtlCol="0" anchor="ctr"/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boundary: saved weight features plus training scores form predictions. Declared source links evaluate frozen retrieval; collection metadata shaped selection and one holdout. Checkpoint revision remains unverified.</a:t>
            </a:r>
            <a:endParaRPr lang="en-US" sz="106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Model Research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 weights as evidence</dc:title>
  <dc:subject>Exploratory audit of weight-derived grouping, base retrieval, and performance controls</dc:subject>
  <dc:creator>Model Research</dc:creator>
  <cp:lastModifiedBy>Model Research</cp:lastModifiedBy>
  <cp:revision>1</cp:revision>
  <dcterms:created xsi:type="dcterms:W3CDTF">2026-09-08T17:11:10Z</dcterms:created>
  <dcterms:modified xsi:type="dcterms:W3CDTF">2026-09-08T17:11:10Z</dcterms:modified>
</cp:coreProperties>
</file>